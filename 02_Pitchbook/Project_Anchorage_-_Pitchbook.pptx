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2342"/>
                </a:solidFill>
                <a:latin typeface="Arial"/>
              </a:defRPr>
            </a:pPr>
            <a:r>
              <a:rPr sz="1200" b="0" i="0" u="none" strike="noStrike">
                <a:solidFill>
                  <a:srgbClr val="0A2342"/>
                </a:solidFill>
                <a:latin typeface="Arial"/>
              </a:rPr>
              <a:t>Revenue, Operating Income &amp; Net Income ($bn)</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A2342"/>
            </a:solidFill>
            <a:effectLst/>
          </c:spPr>
          <c:invertIfNegative val="0"/>
          <c:dLbls>
            <c:numFmt formatCode="#,##0" sourceLinked="0"/>
            <c:txPr>
              <a:bodyPr/>
              <a:lstStyle/>
              <a:p>
                <a:pPr>
                  <a:defRPr b="0" i="0" strike="noStrike" sz="800" u="none">
                    <a:solidFill>
                      <a:srgbClr val="071729"/>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FY2020</c:v>
                  </c:pt>
                  <c:pt idx="1">
                    <c:v>FY2021</c:v>
                  </c:pt>
                  <c:pt idx="2">
                    <c:v>FY2022</c:v>
                  </c:pt>
                </c:lvl>
              </c:multiLvlStrCache>
            </c:multiLvlStrRef>
          </c:cat>
          <c:val>
            <c:numRef>
              <c:f>Sheet1!$B$2:$B$4</c:f>
              <c:numCache>
                <c:formatCode>General</c:formatCode>
                <c:ptCount val="3"/>
                <c:pt idx="0">
                  <c:v>143</c:v>
                </c:pt>
                <c:pt idx="1">
                  <c:v>168.1</c:v>
                </c:pt>
                <c:pt idx="2">
                  <c:v>198.3</c:v>
                </c:pt>
              </c:numCache>
            </c:numRef>
          </c:val>
        </c:ser>
        <c:ser>
          <c:idx val="1"/>
          <c:order val="1"/>
          <c:tx>
            <c:strRef>
              <c:f>Sheet1!$C$1</c:f>
              <c:strCache>
                <c:ptCount val="1"/>
                <c:pt idx="0">
                  <c:v>Operating Income</c:v>
                </c:pt>
              </c:strCache>
            </c:strRef>
          </c:tx>
          <c:spPr>
            <a:solidFill>
              <a:srgbClr val="2F80ED"/>
            </a:solidFill>
            <a:effectLst/>
          </c:spPr>
          <c:invertIfNegative val="0"/>
          <c:dLbls>
            <c:numFmt formatCode="#,##0" sourceLinked="0"/>
            <c:txPr>
              <a:bodyPr/>
              <a:lstStyle/>
              <a:p>
                <a:pPr>
                  <a:defRPr b="0" i="0" strike="noStrike" sz="800" u="none">
                    <a:solidFill>
                      <a:srgbClr val="071729"/>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FY2020</c:v>
                  </c:pt>
                  <c:pt idx="1">
                    <c:v>FY2021</c:v>
                  </c:pt>
                  <c:pt idx="2">
                    <c:v>FY2022</c:v>
                  </c:pt>
                </c:lvl>
              </c:multiLvlStrCache>
            </c:multiLvlStrRef>
          </c:cat>
          <c:val>
            <c:numRef>
              <c:f>Sheet1!$C$2:$C$4</c:f>
              <c:numCache>
                <c:formatCode>General</c:formatCode>
                <c:ptCount val="3"/>
                <c:pt idx="0">
                  <c:v>52.9</c:v>
                </c:pt>
                <c:pt idx="1">
                  <c:v>70</c:v>
                </c:pt>
                <c:pt idx="2">
                  <c:v>83.4</c:v>
                </c:pt>
              </c:numCache>
            </c:numRef>
          </c:val>
        </c:ser>
        <c:ser>
          <c:idx val="2"/>
          <c:order val="2"/>
          <c:tx>
            <c:strRef>
              <c:f>Sheet1!$D$1</c:f>
              <c:strCache>
                <c:ptCount val="1"/>
                <c:pt idx="0">
                  <c:v>Net Income</c:v>
                </c:pt>
              </c:strCache>
            </c:strRef>
          </c:tx>
          <c:spPr>
            <a:solidFill>
              <a:srgbClr val="6B7684"/>
            </a:solidFill>
            <a:effectLst/>
          </c:spPr>
          <c:invertIfNegative val="0"/>
          <c:dLbls>
            <c:numFmt formatCode="#,##0" sourceLinked="0"/>
            <c:txPr>
              <a:bodyPr/>
              <a:lstStyle/>
              <a:p>
                <a:pPr>
                  <a:defRPr b="0" i="0" strike="noStrike" sz="800" u="none">
                    <a:solidFill>
                      <a:srgbClr val="071729"/>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FY2020</c:v>
                  </c:pt>
                  <c:pt idx="1">
                    <c:v>FY2021</c:v>
                  </c:pt>
                  <c:pt idx="2">
                    <c:v>FY2022</c:v>
                  </c:pt>
                </c:lvl>
              </c:multiLvlStrCache>
            </c:multiLvlStrRef>
          </c:cat>
          <c:val>
            <c:numRef>
              <c:f>Sheet1!$D$2:$D$4</c:f>
              <c:numCache>
                <c:formatCode>General</c:formatCode>
                <c:ptCount val="3"/>
                <c:pt idx="0">
                  <c:v>44.3</c:v>
                </c:pt>
                <c:pt idx="1">
                  <c:v>61.3</c:v>
                </c:pt>
                <c:pt idx="2">
                  <c:v>72.7</c:v>
                </c:pt>
              </c:numCache>
            </c:numRef>
          </c:val>
        </c:ser>
        <c:dLbls>
          <c:numFmt formatCode="#,##0" sourceLinked="0"/>
          <c:txPr>
            <a:bodyPr/>
            <a:lstStyle/>
            <a:p>
              <a:pPr>
                <a:defRPr b="0" i="0" strike="noStrike" sz="800" u="none">
                  <a:solidFill>
                    <a:srgbClr val="07172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8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2342"/>
                </a:solidFill>
                <a:latin typeface="Arial"/>
              </a:defRPr>
            </a:pPr>
            <a:r>
              <a:rPr sz="1200" b="0" i="0" u="none" strike="noStrike">
                <a:solidFill>
                  <a:srgbClr val="0A2342"/>
                </a:solidFill>
                <a:latin typeface="Arial"/>
              </a:rPr>
              <a:t>Net Revenue Trend ($bn)</a:t>
            </a:r>
          </a:p>
        </c:rich>
      </c:tx>
      <c:layout/>
      <c:overlay val="0"/>
    </c:title>
    <c:autoTitleDeleted val="0"/>
    <c:plotArea>
      <c:layout/>
      <c:barChart>
        <c:barDir val="col"/>
        <c:grouping val="clustered"/>
        <c:varyColors val="0"/>
        <c:ser>
          <c:idx val="0"/>
          <c:order val="0"/>
          <c:tx>
            <c:strRef>
              <c:f>Sheet1!$B$1</c:f>
              <c:strCache>
                <c:ptCount val="1"/>
                <c:pt idx="0">
                  <c:v>Net Revenue</c:v>
                </c:pt>
              </c:strCache>
            </c:strRef>
          </c:tx>
          <c:spPr>
            <a:solidFill>
              <a:srgbClr val="0A2342"/>
            </a:solidFill>
            <a:effectLst/>
          </c:spPr>
          <c:invertIfNegative val="0"/>
          <c:dLbls>
            <c:numFmt formatCode="#,##0" sourceLinked="0"/>
            <c:txPr>
              <a:bodyPr/>
              <a:lstStyle/>
              <a:p>
                <a:pPr>
                  <a:defRPr b="0" i="0" strike="noStrike" sz="900" u="none">
                    <a:solidFill>
                      <a:srgbClr val="071729"/>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FY2019</c:v>
                  </c:pt>
                  <c:pt idx="1">
                    <c:v>FY2020</c:v>
                  </c:pt>
                  <c:pt idx="2">
                    <c:v>FY2021</c:v>
                  </c:pt>
                  <c:pt idx="3">
                    <c:v>FY2022</c:v>
                  </c:pt>
                </c:lvl>
              </c:multiLvlStrCache>
            </c:multiLvlStrRef>
          </c:cat>
          <c:val>
            <c:numRef>
              <c:f>Sheet1!$B$2:$B$5</c:f>
              <c:numCache>
                <c:formatCode>General</c:formatCode>
                <c:ptCount val="4"/>
                <c:pt idx="0">
                  <c:v>6.49</c:v>
                </c:pt>
                <c:pt idx="1">
                  <c:v>8.09</c:v>
                </c:pt>
                <c:pt idx="2">
                  <c:v>8.8</c:v>
                </c:pt>
                <c:pt idx="3">
                  <c:v>7.53</c:v>
                </c:pt>
              </c:numCache>
            </c:numRef>
          </c:val>
        </c:ser>
        <c:dLbls>
          <c:numFmt formatCode="#,##0" sourceLinked="0"/>
          <c:txPr>
            <a:bodyPr/>
            <a:lstStyle/>
            <a:p>
              <a:pPr>
                <a:defRPr b="0" i="0" strike="noStrike" sz="900" u="none">
                  <a:solidFill>
                    <a:srgbClr val="07172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2342"/>
                </a:solidFill>
                <a:latin typeface="Arial"/>
              </a:defRPr>
            </a:pPr>
            <a:r>
              <a:rPr sz="1200" b="0" i="0" u="none" strike="noStrike">
                <a:solidFill>
                  <a:srgbClr val="0A2342"/>
                </a:solidFill>
                <a:latin typeface="Arial"/>
              </a:rPr>
              <a:t>Global Video Game Market — Total Consumer Spend ($bn)</a:t>
            </a:r>
          </a:p>
        </c:rich>
      </c:tx>
      <c:layout/>
      <c:overlay val="0"/>
    </c:title>
    <c:autoTitleDeleted val="0"/>
    <c:plotArea>
      <c:layout/>
      <c:lineChart>
        <c:varyColors val="0"/>
        <c:ser>
          <c:idx val="0"/>
          <c:order val="0"/>
          <c:tx>
            <c:strRef>
              <c:f>Sheet1!$B$1</c:f>
              <c:strCache>
                <c:ptCount val="1"/>
                <c:pt idx="0">
                  <c:v>Total Market ($bn)</c:v>
                </c:pt>
              </c:strCache>
            </c:strRef>
          </c:tx>
          <c:spPr>
            <a:solidFill>
              <a:srgbClr val="2F80ED"/>
            </a:solidFill>
            <a:ln w="31750" cap="flat">
              <a:solidFill>
                <a:srgbClr val="2F80ED"/>
              </a:solidFill>
              <a:prstDash val="solid"/>
              <a:round/>
            </a:ln>
            <a:effectLst/>
          </c:spPr>
          <c:invertIfNegative val="0"/>
          <c:dLbls>
            <c:numFmt formatCode="#,##0" sourceLinked="0"/>
            <c:txPr>
              <a:bodyPr/>
              <a:lstStyle/>
              <a:p>
                <a:pPr>
                  <a:defRPr b="0" i="0" strike="noStrike" sz="800" u="none">
                    <a:solidFill>
                      <a:srgbClr val="0A2342"/>
                    </a:solidFill>
                    <a:latin typeface="Arial"/>
                  </a:defRPr>
                </a:pPr>
              </a:p>
            </c:txPr>
            <c:showLegendKey val="0"/>
            <c:showVal val="1"/>
            <c:showCatName val="0"/>
            <c:showSerName val="0"/>
            <c:showPercent val="0"/>
            <c:showBubbleSize val="0"/>
            <c:showLeaderLines val="0"/>
          </c:dLbls>
          <c:marker>
            <c:symbol val="circle"/>
            <c:size val="6"/>
            <c:spPr>
              <a:solidFill>
                <a:srgbClr val="2F80ED"/>
              </a:solidFill>
              <a:ln w="9525" cap="flat">
                <a:solidFill>
                  <a:srgbClr val="2F80ED"/>
                </a:solidFill>
                <a:prstDash val="solid"/>
                <a:round/>
              </a:ln>
              <a:effectLst/>
            </c:spPr>
          </c:marker>
          <c:cat>
            <c:multiLvlStrRef>
              <c:f>Sheet1!$A$2:$A$8</c:f>
              <c:multiLvlStrCache>
                <c:ptCount val="7"/>
                <c:lvl>
                  <c:pt idx="0">
                    <c:v>2020</c:v>
                  </c:pt>
                  <c:pt idx="1">
                    <c:v>2021</c:v>
                  </c:pt>
                  <c:pt idx="2">
                    <c:v>2022</c:v>
                  </c:pt>
                  <c:pt idx="3">
                    <c:v>2023</c:v>
                  </c:pt>
                  <c:pt idx="4">
                    <c:v>2024</c:v>
                  </c:pt>
                  <c:pt idx="5">
                    <c:v>2025</c:v>
                  </c:pt>
                  <c:pt idx="6">
                    <c:v>2026E</c:v>
                  </c:pt>
                </c:lvl>
              </c:multiLvlStrCache>
            </c:multiLvlStrRef>
          </c:cat>
          <c:val>
            <c:numRef>
              <c:f>Sheet1!$B$2:$B$8</c:f>
              <c:numCache>
                <c:formatCode>General</c:formatCode>
                <c:ptCount val="7"/>
                <c:pt idx="0">
                  <c:v>159.3</c:v>
                </c:pt>
                <c:pt idx="1">
                  <c:v>192.7</c:v>
                </c:pt>
                <c:pt idx="2">
                  <c:v>203.1</c:v>
                </c:pt>
                <c:pt idx="3">
                  <c:v>184</c:v>
                </c:pt>
                <c:pt idx="4">
                  <c:v>187</c:v>
                </c:pt>
                <c:pt idx="5">
                  <c:v>188.8</c:v>
                </c:pt>
                <c:pt idx="6">
                  <c:v>205</c:v>
                </c:pt>
              </c:numCache>
            </c:numRef>
          </c:val>
          <c:smooth val="0"/>
        </c:ser>
        <c:dLbls>
          <c:numFmt formatCode="#,##0" sourceLinked="0"/>
          <c:txPr>
            <a:bodyPr/>
            <a:lstStyle/>
            <a:p>
              <a:pPr>
                <a:defRPr b="0" i="0" strike="noStrike" sz="800" u="none">
                  <a:solidFill>
                    <a:srgbClr val="0A2342"/>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2342"/>
                </a:solidFill>
                <a:latin typeface="Arial"/>
              </a:defRPr>
            </a:pPr>
            <a:r>
              <a:rPr sz="1200" b="0" i="0" u="none" strike="noStrike">
                <a:solidFill>
                  <a:srgbClr val="0A2342"/>
                </a:solidFill>
                <a:latin typeface="Arial"/>
              </a:rPr>
              <a:t>Market by Platform (~2022)</a:t>
            </a:r>
          </a:p>
        </c:rich>
      </c:tx>
      <c:layout/>
      <c:overlay val="0"/>
    </c:title>
    <c:autoTitleDeleted val="0"/>
    <c:plotArea>
      <c:layout/>
      <c:pieChart>
        <c:varyColors val="1"/>
        <c:ser>
          <c:idx val="0"/>
          <c:order val="0"/>
          <c:tx>
            <c:strRef>
              <c:f>Sheet1!$B$1</c:f>
              <c:strCache>
                <c:ptCount val="1"/>
                <c:pt idx="0">
                  <c:v>Platform Share</c:v>
                </c:pt>
              </c:strCache>
            </c:strRef>
          </c:tx>
          <c:spPr>
            <a:solidFill>
              <a:schemeClr val="accent1"/>
            </a:solidFill>
            <a:ln w="9525" cap="flat">
              <a:solidFill>
                <a:srgbClr val="F9F9F9"/>
              </a:solidFill>
              <a:prstDash val="solid"/>
              <a:round/>
            </a:ln>
            <a:effectLst/>
          </c:spPr>
          <c:dPt>
            <c:idx val="0"/>
            <c:bubble3D val="0"/>
            <c:spPr>
              <a:solidFill>
                <a:srgbClr val="0A2342"/>
              </a:solidFill>
              <a:effectLst/>
            </c:spPr>
          </c:dPt>
          <c:dPt>
            <c:idx val="1"/>
            <c:bubble3D val="0"/>
            <c:spPr>
              <a:solidFill>
                <a:srgbClr val="2F80ED"/>
              </a:solidFill>
              <a:effectLst/>
            </c:spPr>
          </c:dPt>
          <c:dPt>
            <c:idx val="2"/>
            <c:bubble3D val="0"/>
            <c:spPr>
              <a:solidFill>
                <a:srgbClr val="6B7684"/>
              </a:solidFill>
              <a:effectLst/>
            </c:spPr>
          </c:dPt>
          <c:dLbls>
            <c:dLbl>
              <c:idx val="0"/>
              <c:numFmt formatCode="General"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dLbl>
              <c:idx val="1"/>
              <c:numFmt formatCode="General"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dLbl>
              <c:idx val="2"/>
              <c:numFmt formatCode="General" sourceLinked="0"/>
              <c:spPr/>
              <c:txPr>
                <a:bodyPr/>
                <a:lstStyle/>
                <a:p>
                  <a:pPr>
                    <a:defRPr sz="1000" b="0" i="0" u="none" strike="noStrike">
                      <a:solidFill>
                        <a:srgbClr val="FFFFFF"/>
                      </a:solidFill>
                      <a:latin typeface="Arial"/>
                    </a:defRPr>
                  </a:pPr>
                </a:p>
              </c:txPr>
              <c:dLblPos val="inEnd"/>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Mobile</c:v>
                </c:pt>
                <c:pt idx="1">
                  <c:v>Console</c:v>
                </c:pt>
                <c:pt idx="2">
                  <c:v>PC</c:v>
                </c:pt>
              </c:strCache>
            </c:strRef>
          </c:cat>
          <c:val>
            <c:numRef>
              <c:f>Sheet1!$B$2:$B$4</c:f>
              <c:numCache>
                <c:ptCount val="3"/>
                <c:pt idx="0">
                  <c:v>52</c:v>
                </c:pt>
                <c:pt idx="1">
                  <c:v>27</c:v>
                </c:pt>
                <c:pt idx="2">
                  <c:v>21</c:v>
                </c:pt>
              </c:numCache>
            </c:numRef>
          </c:val>
        </c:ser>
        <c:firstSliceAng val="0"/>
      </c:pie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2342"/>
                </a:solidFill>
                <a:latin typeface="Arial"/>
              </a:defRPr>
            </a:pPr>
            <a:r>
              <a:rPr sz="1200" b="0" i="0" u="none" strike="noStrike">
                <a:solidFill>
                  <a:srgbClr val="0A2342"/>
                </a:solidFill>
                <a:latin typeface="Arial"/>
              </a:rPr>
              <a:t>Microsoft Gaming Segment Revenue ($bn)</a:t>
            </a:r>
          </a:p>
        </c:rich>
      </c:tx>
      <c:layout/>
      <c:overlay val="0"/>
    </c:title>
    <c:autoTitleDeleted val="0"/>
    <c:plotArea>
      <c:layout/>
      <c:barChart>
        <c:barDir val="col"/>
        <c:grouping val="clustered"/>
        <c:varyColors val="0"/>
        <c:ser>
          <c:idx val="0"/>
          <c:order val="0"/>
          <c:tx>
            <c:strRef>
              <c:f>Sheet1!$B$1</c:f>
              <c:strCache>
                <c:ptCount val="1"/>
                <c:pt idx="0">
                  <c:v>Gaming Segment Revenue ($bn)</c:v>
                </c:pt>
              </c:strCache>
            </c:strRef>
          </c:tx>
          <c:spPr>
            <a:solidFill>
              <a:srgbClr val="0A2342"/>
            </a:solidFill>
            <a:effectLst/>
          </c:spPr>
          <c:invertIfNegative val="0"/>
          <c:dLbls>
            <c:numFmt formatCode="#,##0" sourceLinked="0"/>
            <c:txPr>
              <a:bodyPr/>
              <a:lstStyle/>
              <a:p>
                <a:pPr>
                  <a:defRPr b="0" i="0" strike="noStrike" sz="900" u="none">
                    <a:solidFill>
                      <a:srgbClr val="071729"/>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FY2021</c:v>
                  </c:pt>
                  <c:pt idx="1">
                    <c:v>FY2023</c:v>
                  </c:pt>
                  <c:pt idx="2">
                    <c:v>FY2024</c:v>
                  </c:pt>
                  <c:pt idx="3">
                    <c:v>FY2025</c:v>
                  </c:pt>
                </c:lvl>
              </c:multiLvlStrCache>
            </c:multiLvlStrRef>
          </c:cat>
          <c:val>
            <c:numRef>
              <c:f>Sheet1!$B$2:$B$5</c:f>
              <c:numCache>
                <c:formatCode>General</c:formatCode>
                <c:ptCount val="4"/>
                <c:pt idx="0">
                  <c:v>16.2</c:v>
                </c:pt>
                <c:pt idx="1">
                  <c:v>15.5</c:v>
                </c:pt>
                <c:pt idx="2">
                  <c:v>21.5</c:v>
                </c:pt>
                <c:pt idx="3">
                  <c:v>23.5</c:v>
                </c:pt>
              </c:numCache>
            </c:numRef>
          </c:val>
        </c:ser>
        <c:dLbls>
          <c:numFmt formatCode="#,##0" sourceLinked="0"/>
          <c:txPr>
            <a:bodyPr/>
            <a:lstStyle/>
            <a:p>
              <a:pPr>
                <a:defRPr b="0" i="0" strike="noStrike" sz="900" u="none">
                  <a:solidFill>
                    <a:srgbClr val="07172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2342"/>
                </a:solidFill>
                <a:latin typeface="Arial"/>
              </a:defRPr>
            </a:pPr>
            <a:r>
              <a:rPr sz="1200" b="0" i="0" u="none" strike="noStrike">
                <a:solidFill>
                  <a:srgbClr val="0A2342"/>
                </a:solidFill>
                <a:latin typeface="Arial"/>
              </a:rPr>
              <a:t>Indexed Share Price Performance (Jan. 2022 = 100)</a:t>
            </a:r>
          </a:p>
        </c:rich>
      </c:tx>
      <c:layout/>
      <c:overlay val="0"/>
    </c:title>
    <c:autoTitleDeleted val="0"/>
    <c:plotArea>
      <c:layout/>
      <c:lineChart>
        <c:varyColors val="0"/>
        <c:ser>
          <c:idx val="0"/>
          <c:order val="0"/>
          <c:tx>
            <c:strRef>
              <c:f>Sheet1!$B$1</c:f>
              <c:strCache>
                <c:ptCount val="1"/>
                <c:pt idx="0">
                  <c:v>Activision Blizzard (ATVI)</c:v>
                </c:pt>
              </c:strCache>
            </c:strRef>
          </c:tx>
          <c:spPr>
            <a:solidFill>
              <a:srgbClr val="0A2342"/>
            </a:solidFill>
            <a:ln w="31750" cap="flat">
              <a:solidFill>
                <a:srgbClr val="0A23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A2342"/>
              </a:solidFill>
              <a:ln w="9525" cap="flat">
                <a:solidFill>
                  <a:srgbClr val="0A2342"/>
                </a:solidFill>
                <a:prstDash val="solid"/>
                <a:round/>
              </a:ln>
              <a:effectLst/>
            </c:spPr>
          </c:marker>
          <c:cat>
            <c:multiLvlStrRef>
              <c:f>Sheet1!$A$2:$A$8</c:f>
              <c:multiLvlStrCache>
                <c:ptCount val="7"/>
                <c:lvl>
                  <c:pt idx="0">
                    <c:v>Jan-22</c:v>
                  </c:pt>
                  <c:pt idx="1">
                    <c:v>Apr-22</c:v>
                  </c:pt>
                  <c:pt idx="2">
                    <c:v>Aug-22</c:v>
                  </c:pt>
                  <c:pt idx="3">
                    <c:v>Dec-22</c:v>
                  </c:pt>
                  <c:pt idx="4">
                    <c:v>Apr-23</c:v>
                  </c:pt>
                  <c:pt idx="5">
                    <c:v>Jul-23</c:v>
                  </c:pt>
                  <c:pt idx="6">
                    <c:v>Oct-23</c:v>
                  </c:pt>
                </c:lvl>
              </c:multiLvlStrCache>
            </c:multiLvlStrRef>
          </c:cat>
          <c:val>
            <c:numRef>
              <c:f>Sheet1!$B$2:$B$8</c:f>
              <c:numCache>
                <c:formatCode>General</c:formatCode>
                <c:ptCount val="7"/>
                <c:pt idx="0">
                  <c:v>100</c:v>
                </c:pt>
                <c:pt idx="1">
                  <c:v>112</c:v>
                </c:pt>
                <c:pt idx="2">
                  <c:v>113</c:v>
                </c:pt>
                <c:pt idx="3">
                  <c:v>100</c:v>
                </c:pt>
                <c:pt idx="4">
                  <c:v>96</c:v>
                </c:pt>
                <c:pt idx="5">
                  <c:v>133</c:v>
                </c:pt>
                <c:pt idx="6">
                  <c:v>145</c:v>
                </c:pt>
              </c:numCache>
            </c:numRef>
          </c:val>
          <c:smooth val="0"/>
        </c:ser>
        <c:ser>
          <c:idx val="1"/>
          <c:order val="1"/>
          <c:tx>
            <c:strRef>
              <c:f>Sheet1!$C$1</c:f>
              <c:strCache>
                <c:ptCount val="1"/>
                <c:pt idx="0">
                  <c:v>Microsoft (MSFT)</c:v>
                </c:pt>
              </c:strCache>
            </c:strRef>
          </c:tx>
          <c:spPr>
            <a:solidFill>
              <a:srgbClr val="2F80ED"/>
            </a:solidFill>
            <a:ln w="31750" cap="flat">
              <a:solidFill>
                <a:srgbClr val="2F80E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F80ED"/>
              </a:solidFill>
              <a:ln w="9525" cap="flat">
                <a:solidFill>
                  <a:srgbClr val="2F80ED"/>
                </a:solidFill>
                <a:prstDash val="solid"/>
                <a:round/>
              </a:ln>
              <a:effectLst/>
            </c:spPr>
          </c:marker>
          <c:cat>
            <c:multiLvlStrRef>
              <c:f>Sheet1!$A$2:$A$8</c:f>
              <c:multiLvlStrCache>
                <c:ptCount val="7"/>
                <c:lvl>
                  <c:pt idx="0">
                    <c:v>Jan-22</c:v>
                  </c:pt>
                  <c:pt idx="1">
                    <c:v>Apr-22</c:v>
                  </c:pt>
                  <c:pt idx="2">
                    <c:v>Aug-22</c:v>
                  </c:pt>
                  <c:pt idx="3">
                    <c:v>Dec-22</c:v>
                  </c:pt>
                  <c:pt idx="4">
                    <c:v>Apr-23</c:v>
                  </c:pt>
                  <c:pt idx="5">
                    <c:v>Jul-23</c:v>
                  </c:pt>
                  <c:pt idx="6">
                    <c:v>Oct-23</c:v>
                  </c:pt>
                </c:lvl>
              </c:multiLvlStrCache>
            </c:multiLvlStrRef>
          </c:cat>
          <c:val>
            <c:numRef>
              <c:f>Sheet1!$C$2:$C$8</c:f>
              <c:numCache>
                <c:formatCode>General</c:formatCode>
                <c:ptCount val="7"/>
                <c:pt idx="0">
                  <c:v>100</c:v>
                </c:pt>
                <c:pt idx="1">
                  <c:v>90</c:v>
                </c:pt>
                <c:pt idx="2">
                  <c:v>88</c:v>
                </c:pt>
                <c:pt idx="3">
                  <c:v>76</c:v>
                </c:pt>
                <c:pt idx="4">
                  <c:v>90</c:v>
                </c:pt>
                <c:pt idx="5">
                  <c:v>105</c:v>
                </c:pt>
                <c:pt idx="6">
                  <c:v>110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9DD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68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2342"/>
          </a:solidFill>
          <a:ln/>
        </p:spPr>
      </p:sp>
      <p:sp>
        <p:nvSpPr>
          <p:cNvPr id="3" name="Text 1"/>
          <p:cNvSpPr/>
          <p:nvPr/>
        </p:nvSpPr>
        <p:spPr>
          <a:xfrm>
            <a:off x="640080" y="1417320"/>
            <a:ext cx="9144000" cy="320040"/>
          </a:xfrm>
          <a:prstGeom prst="rect">
            <a:avLst/>
          </a:prstGeom>
          <a:noFill/>
          <a:ln/>
        </p:spPr>
        <p:txBody>
          <a:bodyPr wrap="square" rtlCol="0" anchor="ctr"/>
          <a:lstStyle/>
          <a:p>
            <a:pPr indent="0" marL="0">
              <a:buNone/>
            </a:pPr>
            <a:r>
              <a:rPr lang="en-US" sz="1300" b="1" spc="200" kern="0" dirty="0">
                <a:solidFill>
                  <a:srgbClr val="2F80ED"/>
                </a:solidFill>
                <a:latin typeface="Arial" pitchFamily="34" charset="0"/>
                <a:ea typeface="Arial" pitchFamily="34" charset="-122"/>
                <a:cs typeface="Arial" pitchFamily="34" charset="-120"/>
              </a:rPr>
              <a:t>TECHNOLOGY, MEDIA &amp; TELECOMMUNICATIONS</a:t>
            </a:r>
            <a:endParaRPr lang="en-US" sz="1300" dirty="0"/>
          </a:p>
        </p:txBody>
      </p:sp>
      <p:sp>
        <p:nvSpPr>
          <p:cNvPr id="4" name="Text 2"/>
          <p:cNvSpPr/>
          <p:nvPr/>
        </p:nvSpPr>
        <p:spPr>
          <a:xfrm>
            <a:off x="640080" y="2331720"/>
            <a:ext cx="10058400" cy="548640"/>
          </a:xfrm>
          <a:prstGeom prst="rect">
            <a:avLst/>
          </a:prstGeom>
          <a:noFill/>
          <a:ln/>
        </p:spPr>
        <p:txBody>
          <a:bodyPr wrap="square" rtlCol="0" anchor="ctr"/>
          <a:lstStyle/>
          <a:p>
            <a:pPr indent="0" marL="0">
              <a:buNone/>
            </a:pPr>
            <a:r>
              <a:rPr lang="en-US" sz="2000" i="1" dirty="0">
                <a:solidFill>
                  <a:srgbClr val="D9DDE3"/>
                </a:solidFill>
                <a:latin typeface="Arial" pitchFamily="34" charset="0"/>
                <a:ea typeface="Arial" pitchFamily="34" charset="-122"/>
                <a:cs typeface="Arial" pitchFamily="34" charset="-120"/>
              </a:rPr>
              <a:t>Project Anchorage</a:t>
            </a:r>
            <a:endParaRPr lang="en-US" sz="2000" dirty="0"/>
          </a:p>
        </p:txBody>
      </p:sp>
      <p:sp>
        <p:nvSpPr>
          <p:cNvPr id="5" name="Text 3"/>
          <p:cNvSpPr/>
          <p:nvPr/>
        </p:nvSpPr>
        <p:spPr>
          <a:xfrm>
            <a:off x="621792" y="2788920"/>
            <a:ext cx="10515600" cy="1737360"/>
          </a:xfrm>
          <a:prstGeom prst="rect">
            <a:avLst/>
          </a:prstGeom>
          <a:noFill/>
          <a:ln/>
        </p:spPr>
        <p:txBody>
          <a:bodyPr wrap="square" rtlCol="0" anchor="ctr"/>
          <a:lstStyle/>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Microsoft's Acquisition of</a:t>
            </a:r>
            <a:endParaRPr lang="en-US" sz="4000" dirty="0"/>
          </a:p>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Activision Blizzard, Inc.</a:t>
            </a:r>
            <a:endParaRPr lang="en-US" sz="4000" dirty="0"/>
          </a:p>
        </p:txBody>
      </p:sp>
      <p:sp>
        <p:nvSpPr>
          <p:cNvPr id="6" name="Text 4"/>
          <p:cNvSpPr/>
          <p:nvPr/>
        </p:nvSpPr>
        <p:spPr>
          <a:xfrm>
            <a:off x="640080" y="4526280"/>
            <a:ext cx="9144000" cy="457200"/>
          </a:xfrm>
          <a:prstGeom prst="rect">
            <a:avLst/>
          </a:prstGeom>
          <a:noFill/>
          <a:ln/>
        </p:spPr>
        <p:txBody>
          <a:bodyPr wrap="square" rtlCol="0" anchor="ctr"/>
          <a:lstStyle/>
          <a:p>
            <a:pPr indent="0" marL="0">
              <a:buNone/>
            </a:pPr>
            <a:r>
              <a:rPr lang="en-US" sz="1600" i="1" dirty="0">
                <a:solidFill>
                  <a:srgbClr val="D9DDE3"/>
                </a:solidFill>
                <a:latin typeface="Arial" pitchFamily="34" charset="0"/>
                <a:ea typeface="Arial" pitchFamily="34" charset="-122"/>
                <a:cs typeface="Arial" pitchFamily="34" charset="-120"/>
              </a:rPr>
              <a:t>M&amp;A Deal Analysis  —  Illustrative Client Presentation</a:t>
            </a:r>
            <a:endParaRPr lang="en-US" sz="1600" dirty="0"/>
          </a:p>
        </p:txBody>
      </p:sp>
      <p:sp>
        <p:nvSpPr>
          <p:cNvPr id="7" name="Shape 5"/>
          <p:cNvSpPr/>
          <p:nvPr/>
        </p:nvSpPr>
        <p:spPr>
          <a:xfrm>
            <a:off x="640080" y="5166360"/>
            <a:ext cx="3657600" cy="0"/>
          </a:xfrm>
          <a:prstGeom prst="line">
            <a:avLst/>
          </a:prstGeom>
          <a:noFill/>
          <a:ln w="25400">
            <a:solidFill>
              <a:srgbClr val="2F80ED"/>
            </a:solidFill>
            <a:prstDash val="solid"/>
          </a:ln>
        </p:spPr>
      </p:sp>
      <p:sp>
        <p:nvSpPr>
          <p:cNvPr id="8" name="Text 6"/>
          <p:cNvSpPr/>
          <p:nvPr/>
        </p:nvSpPr>
        <p:spPr>
          <a:xfrm>
            <a:off x="640080" y="5349240"/>
            <a:ext cx="105156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$95.00 / SHARE   </a:t>
            </a:r>
            <a:pPr indent="0" marL="0">
              <a:buNone/>
            </a:pPr>
            <a:r>
              <a:rPr lang="en-US" sz="1200" dirty="0">
                <a:solidFill>
                  <a:srgbClr val="D9DDE3"/>
                </a:solidFill>
                <a:latin typeface="Arial" pitchFamily="34" charset="0"/>
                <a:ea typeface="Arial" pitchFamily="34" charset="-122"/>
                <a:cs typeface="Arial" pitchFamily="34" charset="-120"/>
              </a:rPr>
              <a:t>•   $68.7BN EQUITY VALUE   •   ANNOUNCED JAN. 2022   •   CLOSED OCT. 2023</a:t>
            </a:r>
            <a:endParaRPr lang="en-US" sz="1200" dirty="0"/>
          </a:p>
        </p:txBody>
      </p:sp>
      <p:sp>
        <p:nvSpPr>
          <p:cNvPr id="9" name="Text 7"/>
          <p:cNvSpPr/>
          <p:nvPr/>
        </p:nvSpPr>
        <p:spPr>
          <a:xfrm>
            <a:off x="640080" y="6217920"/>
            <a:ext cx="7315200" cy="274320"/>
          </a:xfrm>
          <a:prstGeom prst="rect">
            <a:avLst/>
          </a:prstGeom>
          <a:noFill/>
          <a:ln/>
        </p:spPr>
        <p:txBody>
          <a:bodyPr wrap="square" rtlCol="0" anchor="ctr"/>
          <a:lstStyle/>
          <a:p>
            <a:pPr indent="0" marL="0">
              <a:buNone/>
            </a:pPr>
            <a:r>
              <a:rPr lang="en-US" sz="1000" dirty="0">
                <a:solidFill>
                  <a:srgbClr val="6B7684"/>
                </a:solidFill>
                <a:latin typeface="Arial" pitchFamily="34" charset="0"/>
                <a:ea typeface="Arial" pitchFamily="34" charset="-122"/>
                <a:cs typeface="Arial" pitchFamily="34" charset="-120"/>
              </a:rPr>
              <a:t>Prepared by Prerna Dudhmande  |  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Agenda</a:t>
            </a:r>
            <a:endParaRPr lang="en-US" sz="2700" dirty="0"/>
          </a:p>
        </p:txBody>
      </p:sp>
      <p:sp>
        <p:nvSpPr>
          <p:cNvPr id="3" name="Text 1"/>
          <p:cNvSpPr/>
          <p:nvPr/>
        </p:nvSpPr>
        <p:spPr>
          <a:xfrm>
            <a:off x="548640" y="1417320"/>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01</a:t>
            </a:r>
            <a:endParaRPr lang="en-US" sz="1600" dirty="0"/>
          </a:p>
        </p:txBody>
      </p:sp>
      <p:sp>
        <p:nvSpPr>
          <p:cNvPr id="4" name="Text 2"/>
          <p:cNvSpPr/>
          <p:nvPr/>
        </p:nvSpPr>
        <p:spPr>
          <a:xfrm>
            <a:off x="1143000" y="1417320"/>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Executive Summary</a:t>
            </a:r>
            <a:endParaRPr lang="en-US" sz="1400" dirty="0"/>
          </a:p>
        </p:txBody>
      </p:sp>
      <p:sp>
        <p:nvSpPr>
          <p:cNvPr id="5" name="Shape 3"/>
          <p:cNvSpPr/>
          <p:nvPr/>
        </p:nvSpPr>
        <p:spPr>
          <a:xfrm>
            <a:off x="548640" y="1965960"/>
            <a:ext cx="5394960" cy="0"/>
          </a:xfrm>
          <a:prstGeom prst="line">
            <a:avLst/>
          </a:prstGeom>
          <a:noFill/>
          <a:ln w="9525">
            <a:solidFill>
              <a:srgbClr val="D9DDE3"/>
            </a:solidFill>
            <a:prstDash val="solid"/>
          </a:ln>
        </p:spPr>
      </p:sp>
      <p:sp>
        <p:nvSpPr>
          <p:cNvPr id="6" name="Text 4"/>
          <p:cNvSpPr/>
          <p:nvPr/>
        </p:nvSpPr>
        <p:spPr>
          <a:xfrm>
            <a:off x="548640" y="2075688"/>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02</a:t>
            </a:r>
            <a:endParaRPr lang="en-US" sz="1600" dirty="0"/>
          </a:p>
        </p:txBody>
      </p:sp>
      <p:sp>
        <p:nvSpPr>
          <p:cNvPr id="7" name="Text 5"/>
          <p:cNvSpPr/>
          <p:nvPr/>
        </p:nvSpPr>
        <p:spPr>
          <a:xfrm>
            <a:off x="1143000" y="2075688"/>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Transaction Overview</a:t>
            </a:r>
            <a:endParaRPr lang="en-US" sz="1400" dirty="0"/>
          </a:p>
        </p:txBody>
      </p:sp>
      <p:sp>
        <p:nvSpPr>
          <p:cNvPr id="8" name="Shape 6"/>
          <p:cNvSpPr/>
          <p:nvPr/>
        </p:nvSpPr>
        <p:spPr>
          <a:xfrm>
            <a:off x="548640" y="2624328"/>
            <a:ext cx="5394960" cy="0"/>
          </a:xfrm>
          <a:prstGeom prst="line">
            <a:avLst/>
          </a:prstGeom>
          <a:noFill/>
          <a:ln w="9525">
            <a:solidFill>
              <a:srgbClr val="D9DDE3"/>
            </a:solidFill>
            <a:prstDash val="solid"/>
          </a:ln>
        </p:spPr>
      </p:sp>
      <p:sp>
        <p:nvSpPr>
          <p:cNvPr id="9" name="Text 7"/>
          <p:cNvSpPr/>
          <p:nvPr/>
        </p:nvSpPr>
        <p:spPr>
          <a:xfrm>
            <a:off x="548640" y="2734056"/>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03</a:t>
            </a:r>
            <a:endParaRPr lang="en-US" sz="1600" dirty="0"/>
          </a:p>
        </p:txBody>
      </p:sp>
      <p:sp>
        <p:nvSpPr>
          <p:cNvPr id="10" name="Text 8"/>
          <p:cNvSpPr/>
          <p:nvPr/>
        </p:nvSpPr>
        <p:spPr>
          <a:xfrm>
            <a:off x="1143000" y="2734056"/>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Company Overviews — Microsoft &amp; Activision Blizzard</a:t>
            </a:r>
            <a:endParaRPr lang="en-US" sz="1400" dirty="0"/>
          </a:p>
        </p:txBody>
      </p:sp>
      <p:sp>
        <p:nvSpPr>
          <p:cNvPr id="11" name="Shape 9"/>
          <p:cNvSpPr/>
          <p:nvPr/>
        </p:nvSpPr>
        <p:spPr>
          <a:xfrm>
            <a:off x="548640" y="3282696"/>
            <a:ext cx="5394960" cy="0"/>
          </a:xfrm>
          <a:prstGeom prst="line">
            <a:avLst/>
          </a:prstGeom>
          <a:noFill/>
          <a:ln w="9525">
            <a:solidFill>
              <a:srgbClr val="D9DDE3"/>
            </a:solidFill>
            <a:prstDash val="solid"/>
          </a:ln>
        </p:spPr>
      </p:sp>
      <p:sp>
        <p:nvSpPr>
          <p:cNvPr id="12" name="Text 10"/>
          <p:cNvSpPr/>
          <p:nvPr/>
        </p:nvSpPr>
        <p:spPr>
          <a:xfrm>
            <a:off x="548640" y="3392424"/>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04</a:t>
            </a:r>
            <a:endParaRPr lang="en-US" sz="1600" dirty="0"/>
          </a:p>
        </p:txBody>
      </p:sp>
      <p:sp>
        <p:nvSpPr>
          <p:cNvPr id="13" name="Text 11"/>
          <p:cNvSpPr/>
          <p:nvPr/>
        </p:nvSpPr>
        <p:spPr>
          <a:xfrm>
            <a:off x="1143000" y="3392424"/>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Gaming Industry Overview</a:t>
            </a:r>
            <a:endParaRPr lang="en-US" sz="1400" dirty="0"/>
          </a:p>
        </p:txBody>
      </p:sp>
      <p:sp>
        <p:nvSpPr>
          <p:cNvPr id="14" name="Shape 12"/>
          <p:cNvSpPr/>
          <p:nvPr/>
        </p:nvSpPr>
        <p:spPr>
          <a:xfrm>
            <a:off x="548640" y="3941064"/>
            <a:ext cx="5394960" cy="0"/>
          </a:xfrm>
          <a:prstGeom prst="line">
            <a:avLst/>
          </a:prstGeom>
          <a:noFill/>
          <a:ln w="9525">
            <a:solidFill>
              <a:srgbClr val="D9DDE3"/>
            </a:solidFill>
            <a:prstDash val="solid"/>
          </a:ln>
        </p:spPr>
      </p:sp>
      <p:sp>
        <p:nvSpPr>
          <p:cNvPr id="15" name="Text 13"/>
          <p:cNvSpPr/>
          <p:nvPr/>
        </p:nvSpPr>
        <p:spPr>
          <a:xfrm>
            <a:off x="548640" y="4050792"/>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05</a:t>
            </a:r>
            <a:endParaRPr lang="en-US" sz="1600" dirty="0"/>
          </a:p>
        </p:txBody>
      </p:sp>
      <p:sp>
        <p:nvSpPr>
          <p:cNvPr id="16" name="Text 14"/>
          <p:cNvSpPr/>
          <p:nvPr/>
        </p:nvSpPr>
        <p:spPr>
          <a:xfrm>
            <a:off x="1143000" y="4050792"/>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Investment Highlights &amp; Strategic Rationale</a:t>
            </a:r>
            <a:endParaRPr lang="en-US" sz="1400" dirty="0"/>
          </a:p>
        </p:txBody>
      </p:sp>
      <p:sp>
        <p:nvSpPr>
          <p:cNvPr id="17" name="Shape 15"/>
          <p:cNvSpPr/>
          <p:nvPr/>
        </p:nvSpPr>
        <p:spPr>
          <a:xfrm>
            <a:off x="548640" y="4599432"/>
            <a:ext cx="5394960" cy="0"/>
          </a:xfrm>
          <a:prstGeom prst="line">
            <a:avLst/>
          </a:prstGeom>
          <a:noFill/>
          <a:ln w="9525">
            <a:solidFill>
              <a:srgbClr val="D9DDE3"/>
            </a:solidFill>
            <a:prstDash val="solid"/>
          </a:ln>
        </p:spPr>
      </p:sp>
      <p:sp>
        <p:nvSpPr>
          <p:cNvPr id="18" name="Text 16"/>
          <p:cNvSpPr/>
          <p:nvPr/>
        </p:nvSpPr>
        <p:spPr>
          <a:xfrm>
            <a:off x="548640" y="4709160"/>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06</a:t>
            </a:r>
            <a:endParaRPr lang="en-US" sz="1600" dirty="0"/>
          </a:p>
        </p:txBody>
      </p:sp>
      <p:sp>
        <p:nvSpPr>
          <p:cNvPr id="19" name="Text 17"/>
          <p:cNvSpPr/>
          <p:nvPr/>
        </p:nvSpPr>
        <p:spPr>
          <a:xfrm>
            <a:off x="1143000" y="4709160"/>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Synergy Analysis</a:t>
            </a:r>
            <a:endParaRPr lang="en-US" sz="1400" dirty="0"/>
          </a:p>
        </p:txBody>
      </p:sp>
      <p:sp>
        <p:nvSpPr>
          <p:cNvPr id="20" name="Shape 18"/>
          <p:cNvSpPr/>
          <p:nvPr/>
        </p:nvSpPr>
        <p:spPr>
          <a:xfrm>
            <a:off x="548640" y="5257800"/>
            <a:ext cx="5394960" cy="0"/>
          </a:xfrm>
          <a:prstGeom prst="line">
            <a:avLst/>
          </a:prstGeom>
          <a:noFill/>
          <a:ln w="9525">
            <a:solidFill>
              <a:srgbClr val="D9DDE3"/>
            </a:solidFill>
            <a:prstDash val="solid"/>
          </a:ln>
        </p:spPr>
      </p:sp>
      <p:sp>
        <p:nvSpPr>
          <p:cNvPr id="21" name="Text 19"/>
          <p:cNvSpPr/>
          <p:nvPr/>
        </p:nvSpPr>
        <p:spPr>
          <a:xfrm>
            <a:off x="6309360" y="1417320"/>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07</a:t>
            </a:r>
            <a:endParaRPr lang="en-US" sz="1600" dirty="0"/>
          </a:p>
        </p:txBody>
      </p:sp>
      <p:sp>
        <p:nvSpPr>
          <p:cNvPr id="22" name="Text 20"/>
          <p:cNvSpPr/>
          <p:nvPr/>
        </p:nvSpPr>
        <p:spPr>
          <a:xfrm>
            <a:off x="6903720" y="1417320"/>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Valuation Summary</a:t>
            </a:r>
            <a:endParaRPr lang="en-US" sz="1400" dirty="0"/>
          </a:p>
        </p:txBody>
      </p:sp>
      <p:sp>
        <p:nvSpPr>
          <p:cNvPr id="23" name="Shape 21"/>
          <p:cNvSpPr/>
          <p:nvPr/>
        </p:nvSpPr>
        <p:spPr>
          <a:xfrm>
            <a:off x="6309360" y="1965960"/>
            <a:ext cx="5394960" cy="0"/>
          </a:xfrm>
          <a:prstGeom prst="line">
            <a:avLst/>
          </a:prstGeom>
          <a:noFill/>
          <a:ln w="9525">
            <a:solidFill>
              <a:srgbClr val="D9DDE3"/>
            </a:solidFill>
            <a:prstDash val="solid"/>
          </a:ln>
        </p:spPr>
      </p:sp>
      <p:sp>
        <p:nvSpPr>
          <p:cNvPr id="24" name="Text 22"/>
          <p:cNvSpPr/>
          <p:nvPr/>
        </p:nvSpPr>
        <p:spPr>
          <a:xfrm>
            <a:off x="6309360" y="2075688"/>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08</a:t>
            </a:r>
            <a:endParaRPr lang="en-US" sz="1600" dirty="0"/>
          </a:p>
        </p:txBody>
      </p:sp>
      <p:sp>
        <p:nvSpPr>
          <p:cNvPr id="25" name="Text 23"/>
          <p:cNvSpPr/>
          <p:nvPr/>
        </p:nvSpPr>
        <p:spPr>
          <a:xfrm>
            <a:off x="6903720" y="2075688"/>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Financial Impact</a:t>
            </a:r>
            <a:endParaRPr lang="en-US" sz="1400" dirty="0"/>
          </a:p>
        </p:txBody>
      </p:sp>
      <p:sp>
        <p:nvSpPr>
          <p:cNvPr id="26" name="Shape 24"/>
          <p:cNvSpPr/>
          <p:nvPr/>
        </p:nvSpPr>
        <p:spPr>
          <a:xfrm>
            <a:off x="6309360" y="2624328"/>
            <a:ext cx="5394960" cy="0"/>
          </a:xfrm>
          <a:prstGeom prst="line">
            <a:avLst/>
          </a:prstGeom>
          <a:noFill/>
          <a:ln w="9525">
            <a:solidFill>
              <a:srgbClr val="D9DDE3"/>
            </a:solidFill>
            <a:prstDash val="solid"/>
          </a:ln>
        </p:spPr>
      </p:sp>
      <p:sp>
        <p:nvSpPr>
          <p:cNvPr id="27" name="Text 25"/>
          <p:cNvSpPr/>
          <p:nvPr/>
        </p:nvSpPr>
        <p:spPr>
          <a:xfrm>
            <a:off x="6309360" y="2734056"/>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09</a:t>
            </a:r>
            <a:endParaRPr lang="en-US" sz="1600" dirty="0"/>
          </a:p>
        </p:txBody>
      </p:sp>
      <p:sp>
        <p:nvSpPr>
          <p:cNvPr id="28" name="Text 26"/>
          <p:cNvSpPr/>
          <p:nvPr/>
        </p:nvSpPr>
        <p:spPr>
          <a:xfrm>
            <a:off x="6903720" y="2734056"/>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Regulatory Review</a:t>
            </a:r>
            <a:endParaRPr lang="en-US" sz="1400" dirty="0"/>
          </a:p>
        </p:txBody>
      </p:sp>
      <p:sp>
        <p:nvSpPr>
          <p:cNvPr id="29" name="Shape 27"/>
          <p:cNvSpPr/>
          <p:nvPr/>
        </p:nvSpPr>
        <p:spPr>
          <a:xfrm>
            <a:off x="6309360" y="3282696"/>
            <a:ext cx="5394960" cy="0"/>
          </a:xfrm>
          <a:prstGeom prst="line">
            <a:avLst/>
          </a:prstGeom>
          <a:noFill/>
          <a:ln w="9525">
            <a:solidFill>
              <a:srgbClr val="D9DDE3"/>
            </a:solidFill>
            <a:prstDash val="solid"/>
          </a:ln>
        </p:spPr>
      </p:sp>
      <p:sp>
        <p:nvSpPr>
          <p:cNvPr id="30" name="Text 28"/>
          <p:cNvSpPr/>
          <p:nvPr/>
        </p:nvSpPr>
        <p:spPr>
          <a:xfrm>
            <a:off x="6309360" y="3392424"/>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10</a:t>
            </a:r>
            <a:endParaRPr lang="en-US" sz="1600" dirty="0"/>
          </a:p>
        </p:txBody>
      </p:sp>
      <p:sp>
        <p:nvSpPr>
          <p:cNvPr id="31" name="Text 29"/>
          <p:cNvSpPr/>
          <p:nvPr/>
        </p:nvSpPr>
        <p:spPr>
          <a:xfrm>
            <a:off x="6903720" y="3392424"/>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Risk Assessment &amp; SWOT</a:t>
            </a:r>
            <a:endParaRPr lang="en-US" sz="1400" dirty="0"/>
          </a:p>
        </p:txBody>
      </p:sp>
      <p:sp>
        <p:nvSpPr>
          <p:cNvPr id="32" name="Shape 30"/>
          <p:cNvSpPr/>
          <p:nvPr/>
        </p:nvSpPr>
        <p:spPr>
          <a:xfrm>
            <a:off x="6309360" y="3941064"/>
            <a:ext cx="5394960" cy="0"/>
          </a:xfrm>
          <a:prstGeom prst="line">
            <a:avLst/>
          </a:prstGeom>
          <a:noFill/>
          <a:ln w="9525">
            <a:solidFill>
              <a:srgbClr val="D9DDE3"/>
            </a:solidFill>
            <a:prstDash val="solid"/>
          </a:ln>
        </p:spPr>
      </p:sp>
      <p:sp>
        <p:nvSpPr>
          <p:cNvPr id="33" name="Text 31"/>
          <p:cNvSpPr/>
          <p:nvPr/>
        </p:nvSpPr>
        <p:spPr>
          <a:xfrm>
            <a:off x="6309360" y="4050792"/>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11</a:t>
            </a:r>
            <a:endParaRPr lang="en-US" sz="1600" dirty="0"/>
          </a:p>
        </p:txBody>
      </p:sp>
      <p:sp>
        <p:nvSpPr>
          <p:cNvPr id="34" name="Text 32"/>
          <p:cNvSpPr/>
          <p:nvPr/>
        </p:nvSpPr>
        <p:spPr>
          <a:xfrm>
            <a:off x="6903720" y="4050792"/>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Market Reaction &amp; Post-Acquisition Performance</a:t>
            </a:r>
            <a:endParaRPr lang="en-US" sz="1400" dirty="0"/>
          </a:p>
        </p:txBody>
      </p:sp>
      <p:sp>
        <p:nvSpPr>
          <p:cNvPr id="35" name="Shape 33"/>
          <p:cNvSpPr/>
          <p:nvPr/>
        </p:nvSpPr>
        <p:spPr>
          <a:xfrm>
            <a:off x="6309360" y="4599432"/>
            <a:ext cx="5394960" cy="0"/>
          </a:xfrm>
          <a:prstGeom prst="line">
            <a:avLst/>
          </a:prstGeom>
          <a:noFill/>
          <a:ln w="9525">
            <a:solidFill>
              <a:srgbClr val="D9DDE3"/>
            </a:solidFill>
            <a:prstDash val="solid"/>
          </a:ln>
        </p:spPr>
      </p:sp>
      <p:sp>
        <p:nvSpPr>
          <p:cNvPr id="36" name="Text 34"/>
          <p:cNvSpPr/>
          <p:nvPr/>
        </p:nvSpPr>
        <p:spPr>
          <a:xfrm>
            <a:off x="6309360" y="4709160"/>
            <a:ext cx="548640" cy="502920"/>
          </a:xfrm>
          <a:prstGeom prst="rect">
            <a:avLst/>
          </a:prstGeom>
          <a:noFill/>
          <a:ln/>
        </p:spPr>
        <p:txBody>
          <a:bodyPr wrap="square" rtlCol="0" anchor="ctr"/>
          <a:lstStyle/>
          <a:p>
            <a:pPr indent="0" marL="0">
              <a:buNone/>
            </a:pPr>
            <a:r>
              <a:rPr lang="en-US" sz="1600" b="1" dirty="0">
                <a:solidFill>
                  <a:srgbClr val="2F80ED"/>
                </a:solidFill>
                <a:latin typeface="Arial" pitchFamily="34" charset="0"/>
                <a:ea typeface="Arial" pitchFamily="34" charset="-122"/>
                <a:cs typeface="Arial" pitchFamily="34" charset="-120"/>
              </a:rPr>
              <a:t>12</a:t>
            </a:r>
            <a:endParaRPr lang="en-US" sz="1600" dirty="0"/>
          </a:p>
        </p:txBody>
      </p:sp>
      <p:sp>
        <p:nvSpPr>
          <p:cNvPr id="37" name="Text 35"/>
          <p:cNvSpPr/>
          <p:nvPr/>
        </p:nvSpPr>
        <p:spPr>
          <a:xfrm>
            <a:off x="6903720" y="4709160"/>
            <a:ext cx="4937760" cy="502920"/>
          </a:xfrm>
          <a:prstGeom prst="rect">
            <a:avLst/>
          </a:prstGeom>
          <a:noFill/>
          <a:ln/>
        </p:spPr>
        <p:txBody>
          <a:bodyPr wrap="square" rtlCol="0" anchor="ctr"/>
          <a:lstStyle/>
          <a:p>
            <a:pPr indent="0" marL="0">
              <a:buNone/>
            </a:pPr>
            <a:r>
              <a:rPr lang="en-US" sz="1400" dirty="0">
                <a:solidFill>
                  <a:srgbClr val="1A1A1A"/>
                </a:solidFill>
                <a:latin typeface="Arial" pitchFamily="34" charset="0"/>
                <a:ea typeface="Arial" pitchFamily="34" charset="-122"/>
                <a:cs typeface="Arial" pitchFamily="34" charset="-120"/>
              </a:rPr>
              <a:t>Recommendation</a:t>
            </a:r>
            <a:endParaRPr lang="en-US" sz="1400" dirty="0"/>
          </a:p>
        </p:txBody>
      </p:sp>
      <p:sp>
        <p:nvSpPr>
          <p:cNvPr id="38" name="Shape 36"/>
          <p:cNvSpPr/>
          <p:nvPr/>
        </p:nvSpPr>
        <p:spPr>
          <a:xfrm>
            <a:off x="6309360" y="5257800"/>
            <a:ext cx="5394960" cy="0"/>
          </a:xfrm>
          <a:prstGeom prst="line">
            <a:avLst/>
          </a:prstGeom>
          <a:noFill/>
          <a:ln w="9525">
            <a:solidFill>
              <a:srgbClr val="D9DDE3"/>
            </a:solidFill>
            <a:prstDash val="solid"/>
          </a:ln>
        </p:spPr>
      </p:sp>
      <p:sp>
        <p:nvSpPr>
          <p:cNvPr id="39" name="Text 37"/>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40" name="Text 38"/>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1</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Executive Summary</a:t>
            </a:r>
            <a:endParaRPr lang="en-US" sz="2700" dirty="0"/>
          </a:p>
        </p:txBody>
      </p:sp>
      <p:sp>
        <p:nvSpPr>
          <p:cNvPr id="4" name="Shape 2"/>
          <p:cNvSpPr/>
          <p:nvPr/>
        </p:nvSpPr>
        <p:spPr>
          <a:xfrm>
            <a:off x="502920" y="1417320"/>
            <a:ext cx="2606040" cy="1554480"/>
          </a:xfrm>
          <a:prstGeom prst="roundRect">
            <a:avLst>
              <a:gd name="adj" fmla="val 3529"/>
            </a:avLst>
          </a:prstGeom>
          <a:solidFill>
            <a:srgbClr val="F3F5F7"/>
          </a:solidFill>
          <a:ln/>
          <a:effectLst>
            <a:outerShdw sx="100000" sy="100000" kx="0" ky="0" algn="bl" rotWithShape="0" blurRad="76200" dist="25400" dir="5400000">
              <a:srgbClr val="8C97A6">
                <a:alpha val="25000"/>
              </a:srgbClr>
            </a:outerShdw>
          </a:effectLst>
        </p:spPr>
      </p:sp>
      <p:sp>
        <p:nvSpPr>
          <p:cNvPr id="5" name="Text 3"/>
          <p:cNvSpPr/>
          <p:nvPr/>
        </p:nvSpPr>
        <p:spPr>
          <a:xfrm>
            <a:off x="502920" y="1536192"/>
            <a:ext cx="2606040" cy="685800"/>
          </a:xfrm>
          <a:prstGeom prst="rect">
            <a:avLst/>
          </a:prstGeom>
          <a:noFill/>
          <a:ln/>
        </p:spPr>
        <p:txBody>
          <a:bodyPr wrap="square" rtlCol="0" anchor="ctr"/>
          <a:lstStyle/>
          <a:p>
            <a:pPr algn="ctr" indent="0" marL="0">
              <a:buNone/>
            </a:pPr>
            <a:r>
              <a:rPr lang="en-US" sz="3000" b="1" dirty="0">
                <a:solidFill>
                  <a:srgbClr val="0A2342"/>
                </a:solidFill>
                <a:latin typeface="Arial" pitchFamily="34" charset="0"/>
                <a:ea typeface="Arial" pitchFamily="34" charset="-122"/>
                <a:cs typeface="Arial" pitchFamily="34" charset="-120"/>
              </a:rPr>
              <a:t>$68.7bn</a:t>
            </a:r>
            <a:endParaRPr lang="en-US" sz="3000" dirty="0"/>
          </a:p>
        </p:txBody>
      </p:sp>
      <p:sp>
        <p:nvSpPr>
          <p:cNvPr id="6" name="Text 4"/>
          <p:cNvSpPr/>
          <p:nvPr/>
        </p:nvSpPr>
        <p:spPr>
          <a:xfrm>
            <a:off x="640080" y="2240280"/>
            <a:ext cx="2331720" cy="640080"/>
          </a:xfrm>
          <a:prstGeom prst="rect">
            <a:avLst/>
          </a:prstGeom>
          <a:noFill/>
          <a:ln/>
        </p:spPr>
        <p:txBody>
          <a:bodyPr wrap="square" rtlCol="0" anchor="ctr"/>
          <a:lstStyle/>
          <a:p>
            <a:pPr algn="ctr" indent="0" marL="0">
              <a:buNone/>
            </a:pPr>
            <a:r>
              <a:rPr lang="en-US" sz="1050" dirty="0">
                <a:solidFill>
                  <a:srgbClr val="6B7684"/>
                </a:solidFill>
                <a:latin typeface="Arial" pitchFamily="34" charset="0"/>
                <a:ea typeface="Arial" pitchFamily="34" charset="-122"/>
                <a:cs typeface="Arial" pitchFamily="34" charset="-120"/>
              </a:rPr>
              <a:t>Equity purchase price</a:t>
            </a:r>
            <a:endParaRPr lang="en-US" sz="1050" dirty="0"/>
          </a:p>
          <a:p>
            <a:pPr algn="ctr" indent="0" marL="0">
              <a:buNone/>
            </a:pPr>
            <a:r>
              <a:rPr lang="en-US" sz="1050" dirty="0">
                <a:solidFill>
                  <a:srgbClr val="6B7684"/>
                </a:solidFill>
                <a:latin typeface="Arial" pitchFamily="34" charset="0"/>
                <a:ea typeface="Arial" pitchFamily="34" charset="-122"/>
                <a:cs typeface="Arial" pitchFamily="34" charset="-120"/>
              </a:rPr>
              <a:t>($95.00/share, all-cash)</a:t>
            </a:r>
            <a:endParaRPr lang="en-US" sz="1050" dirty="0"/>
          </a:p>
        </p:txBody>
      </p:sp>
      <p:sp>
        <p:nvSpPr>
          <p:cNvPr id="7" name="Shape 5"/>
          <p:cNvSpPr/>
          <p:nvPr/>
        </p:nvSpPr>
        <p:spPr>
          <a:xfrm>
            <a:off x="3355848" y="1417320"/>
            <a:ext cx="2606040" cy="1554480"/>
          </a:xfrm>
          <a:prstGeom prst="roundRect">
            <a:avLst>
              <a:gd name="adj" fmla="val 3529"/>
            </a:avLst>
          </a:prstGeom>
          <a:solidFill>
            <a:srgbClr val="F3F5F7"/>
          </a:solidFill>
          <a:ln/>
          <a:effectLst>
            <a:outerShdw sx="100000" sy="100000" kx="0" ky="0" algn="bl" rotWithShape="0" blurRad="76200" dist="25400" dir="5400000">
              <a:srgbClr val="8C97A6">
                <a:alpha val="25000"/>
              </a:srgbClr>
            </a:outerShdw>
          </a:effectLst>
        </p:spPr>
      </p:sp>
      <p:sp>
        <p:nvSpPr>
          <p:cNvPr id="8" name="Text 6"/>
          <p:cNvSpPr/>
          <p:nvPr/>
        </p:nvSpPr>
        <p:spPr>
          <a:xfrm>
            <a:off x="3355848" y="1536192"/>
            <a:ext cx="2606040" cy="685800"/>
          </a:xfrm>
          <a:prstGeom prst="rect">
            <a:avLst/>
          </a:prstGeom>
          <a:noFill/>
          <a:ln/>
        </p:spPr>
        <p:txBody>
          <a:bodyPr wrap="square" rtlCol="0" anchor="ctr"/>
          <a:lstStyle/>
          <a:p>
            <a:pPr algn="ctr" indent="0" marL="0">
              <a:buNone/>
            </a:pPr>
            <a:r>
              <a:rPr lang="en-US" sz="3000" b="1" dirty="0">
                <a:solidFill>
                  <a:srgbClr val="0A2342"/>
                </a:solidFill>
                <a:latin typeface="Arial" pitchFamily="34" charset="0"/>
                <a:ea typeface="Arial" pitchFamily="34" charset="-122"/>
                <a:cs typeface="Arial" pitchFamily="34" charset="-120"/>
              </a:rPr>
              <a:t>~45%</a:t>
            </a:r>
            <a:endParaRPr lang="en-US" sz="3000" dirty="0"/>
          </a:p>
        </p:txBody>
      </p:sp>
      <p:sp>
        <p:nvSpPr>
          <p:cNvPr id="9" name="Text 7"/>
          <p:cNvSpPr/>
          <p:nvPr/>
        </p:nvSpPr>
        <p:spPr>
          <a:xfrm>
            <a:off x="3493008" y="2240280"/>
            <a:ext cx="2331720" cy="640080"/>
          </a:xfrm>
          <a:prstGeom prst="rect">
            <a:avLst/>
          </a:prstGeom>
          <a:noFill/>
          <a:ln/>
        </p:spPr>
        <p:txBody>
          <a:bodyPr wrap="square" rtlCol="0" anchor="ctr"/>
          <a:lstStyle/>
          <a:p>
            <a:pPr algn="ctr" indent="0" marL="0">
              <a:buNone/>
            </a:pPr>
            <a:r>
              <a:rPr lang="en-US" sz="1050" dirty="0">
                <a:solidFill>
                  <a:srgbClr val="6B7684"/>
                </a:solidFill>
                <a:latin typeface="Arial" pitchFamily="34" charset="0"/>
                <a:ea typeface="Arial" pitchFamily="34" charset="-122"/>
                <a:cs typeface="Arial" pitchFamily="34" charset="-120"/>
              </a:rPr>
              <a:t>Premium to unaffected</a:t>
            </a:r>
            <a:endParaRPr lang="en-US" sz="1050" dirty="0"/>
          </a:p>
          <a:p>
            <a:pPr algn="ctr" indent="0" marL="0">
              <a:buNone/>
            </a:pPr>
            <a:r>
              <a:rPr lang="en-US" sz="1050" dirty="0">
                <a:solidFill>
                  <a:srgbClr val="6B7684"/>
                </a:solidFill>
                <a:latin typeface="Arial" pitchFamily="34" charset="0"/>
                <a:ea typeface="Arial" pitchFamily="34" charset="-122"/>
                <a:cs typeface="Arial" pitchFamily="34" charset="-120"/>
              </a:rPr>
              <a:t>share price (Jan. 14, 2022)</a:t>
            </a:r>
            <a:endParaRPr lang="en-US" sz="1050" dirty="0"/>
          </a:p>
        </p:txBody>
      </p:sp>
      <p:sp>
        <p:nvSpPr>
          <p:cNvPr id="10" name="Shape 8"/>
          <p:cNvSpPr/>
          <p:nvPr/>
        </p:nvSpPr>
        <p:spPr>
          <a:xfrm>
            <a:off x="6208776" y="1417320"/>
            <a:ext cx="2606040" cy="1554480"/>
          </a:xfrm>
          <a:prstGeom prst="roundRect">
            <a:avLst>
              <a:gd name="adj" fmla="val 3529"/>
            </a:avLst>
          </a:prstGeom>
          <a:solidFill>
            <a:srgbClr val="F3F5F7"/>
          </a:solidFill>
          <a:ln/>
          <a:effectLst>
            <a:outerShdw sx="100000" sy="100000" kx="0" ky="0" algn="bl" rotWithShape="0" blurRad="76200" dist="25400" dir="5400000">
              <a:srgbClr val="8C97A6">
                <a:alpha val="25000"/>
              </a:srgbClr>
            </a:outerShdw>
          </a:effectLst>
        </p:spPr>
      </p:sp>
      <p:sp>
        <p:nvSpPr>
          <p:cNvPr id="11" name="Text 9"/>
          <p:cNvSpPr/>
          <p:nvPr/>
        </p:nvSpPr>
        <p:spPr>
          <a:xfrm>
            <a:off x="6208776" y="1536192"/>
            <a:ext cx="2606040" cy="685800"/>
          </a:xfrm>
          <a:prstGeom prst="rect">
            <a:avLst/>
          </a:prstGeom>
          <a:noFill/>
          <a:ln/>
        </p:spPr>
        <p:txBody>
          <a:bodyPr wrap="square" rtlCol="0" anchor="ctr"/>
          <a:lstStyle/>
          <a:p>
            <a:pPr algn="ctr" indent="0" marL="0">
              <a:buNone/>
            </a:pPr>
            <a:r>
              <a:rPr lang="en-US" sz="3000" b="1" dirty="0">
                <a:solidFill>
                  <a:srgbClr val="0A2342"/>
                </a:solidFill>
                <a:latin typeface="Arial" pitchFamily="34" charset="0"/>
                <a:ea typeface="Arial" pitchFamily="34" charset="-122"/>
                <a:cs typeface="Arial" pitchFamily="34" charset="-120"/>
              </a:rPr>
              <a:t>~21 mo.</a:t>
            </a:r>
            <a:endParaRPr lang="en-US" sz="3000" dirty="0"/>
          </a:p>
        </p:txBody>
      </p:sp>
      <p:sp>
        <p:nvSpPr>
          <p:cNvPr id="12" name="Text 10"/>
          <p:cNvSpPr/>
          <p:nvPr/>
        </p:nvSpPr>
        <p:spPr>
          <a:xfrm>
            <a:off x="6345936" y="2240280"/>
            <a:ext cx="2331720" cy="640080"/>
          </a:xfrm>
          <a:prstGeom prst="rect">
            <a:avLst/>
          </a:prstGeom>
          <a:noFill/>
          <a:ln/>
        </p:spPr>
        <p:txBody>
          <a:bodyPr wrap="square" rtlCol="0" anchor="ctr"/>
          <a:lstStyle/>
          <a:p>
            <a:pPr algn="ctr" indent="0" marL="0">
              <a:buNone/>
            </a:pPr>
            <a:r>
              <a:rPr lang="en-US" sz="1050" dirty="0">
                <a:solidFill>
                  <a:srgbClr val="6B7684"/>
                </a:solidFill>
                <a:latin typeface="Arial" pitchFamily="34" charset="0"/>
                <a:ea typeface="Arial" pitchFamily="34" charset="-122"/>
                <a:cs typeface="Arial" pitchFamily="34" charset="-120"/>
              </a:rPr>
              <a:t>Signing to closing</a:t>
            </a:r>
            <a:endParaRPr lang="en-US" sz="1050" dirty="0"/>
          </a:p>
          <a:p>
            <a:pPr algn="ctr" indent="0" marL="0">
              <a:buNone/>
            </a:pPr>
            <a:r>
              <a:rPr lang="en-US" sz="1050" dirty="0">
                <a:solidFill>
                  <a:srgbClr val="6B7684"/>
                </a:solidFill>
                <a:latin typeface="Arial" pitchFamily="34" charset="0"/>
                <a:ea typeface="Arial" pitchFamily="34" charset="-122"/>
                <a:cs typeface="Arial" pitchFamily="34" charset="-120"/>
              </a:rPr>
              <a:t>(Jan. 2022 – Oct. 2023)</a:t>
            </a:r>
            <a:endParaRPr lang="en-US" sz="1050" dirty="0"/>
          </a:p>
        </p:txBody>
      </p:sp>
      <p:sp>
        <p:nvSpPr>
          <p:cNvPr id="13" name="Shape 11"/>
          <p:cNvSpPr/>
          <p:nvPr/>
        </p:nvSpPr>
        <p:spPr>
          <a:xfrm>
            <a:off x="9061704" y="1417320"/>
            <a:ext cx="2606040" cy="1554480"/>
          </a:xfrm>
          <a:prstGeom prst="roundRect">
            <a:avLst>
              <a:gd name="adj" fmla="val 3529"/>
            </a:avLst>
          </a:prstGeom>
          <a:solidFill>
            <a:srgbClr val="F3F5F7"/>
          </a:solidFill>
          <a:ln/>
          <a:effectLst>
            <a:outerShdw sx="100000" sy="100000" kx="0" ky="0" algn="bl" rotWithShape="0" blurRad="76200" dist="25400" dir="5400000">
              <a:srgbClr val="8C97A6">
                <a:alpha val="25000"/>
              </a:srgbClr>
            </a:outerShdw>
          </a:effectLst>
        </p:spPr>
      </p:sp>
      <p:sp>
        <p:nvSpPr>
          <p:cNvPr id="14" name="Text 12"/>
          <p:cNvSpPr/>
          <p:nvPr/>
        </p:nvSpPr>
        <p:spPr>
          <a:xfrm>
            <a:off x="9061704" y="1536192"/>
            <a:ext cx="2606040" cy="685800"/>
          </a:xfrm>
          <a:prstGeom prst="rect">
            <a:avLst/>
          </a:prstGeom>
          <a:noFill/>
          <a:ln/>
        </p:spPr>
        <p:txBody>
          <a:bodyPr wrap="square" rtlCol="0" anchor="ctr"/>
          <a:lstStyle/>
          <a:p>
            <a:pPr algn="ctr" indent="0" marL="0">
              <a:buNone/>
            </a:pPr>
            <a:r>
              <a:rPr lang="en-US" sz="3000" b="1" dirty="0">
                <a:solidFill>
                  <a:srgbClr val="0A2342"/>
                </a:solidFill>
                <a:latin typeface="Arial" pitchFamily="34" charset="0"/>
                <a:ea typeface="Arial" pitchFamily="34" charset="-122"/>
                <a:cs typeface="Arial" pitchFamily="34" charset="-120"/>
              </a:rPr>
              <a:t>3rd</a:t>
            </a:r>
            <a:endParaRPr lang="en-US" sz="3000" dirty="0"/>
          </a:p>
        </p:txBody>
      </p:sp>
      <p:sp>
        <p:nvSpPr>
          <p:cNvPr id="15" name="Text 13"/>
          <p:cNvSpPr/>
          <p:nvPr/>
        </p:nvSpPr>
        <p:spPr>
          <a:xfrm>
            <a:off x="9198864" y="2240280"/>
            <a:ext cx="2331720" cy="640080"/>
          </a:xfrm>
          <a:prstGeom prst="rect">
            <a:avLst/>
          </a:prstGeom>
          <a:noFill/>
          <a:ln/>
        </p:spPr>
        <p:txBody>
          <a:bodyPr wrap="square" rtlCol="0" anchor="ctr"/>
          <a:lstStyle/>
          <a:p>
            <a:pPr algn="ctr" indent="0" marL="0">
              <a:buNone/>
            </a:pPr>
            <a:r>
              <a:rPr lang="en-US" sz="1050" dirty="0">
                <a:solidFill>
                  <a:srgbClr val="6B7684"/>
                </a:solidFill>
                <a:latin typeface="Arial" pitchFamily="34" charset="0"/>
                <a:ea typeface="Arial" pitchFamily="34" charset="-122"/>
                <a:cs typeface="Arial" pitchFamily="34" charset="-120"/>
              </a:rPr>
              <a:t>Largest gaming company</a:t>
            </a:r>
            <a:endParaRPr lang="en-US" sz="1050" dirty="0"/>
          </a:p>
          <a:p>
            <a:pPr algn="ctr" indent="0" marL="0">
              <a:buNone/>
            </a:pPr>
            <a:r>
              <a:rPr lang="en-US" sz="1050" dirty="0">
                <a:solidFill>
                  <a:srgbClr val="6B7684"/>
                </a:solidFill>
                <a:latin typeface="Arial" pitchFamily="34" charset="0"/>
                <a:ea typeface="Arial" pitchFamily="34" charset="-122"/>
                <a:cs typeface="Arial" pitchFamily="34" charset="-120"/>
              </a:rPr>
              <a:t>globally by revenue, post-close</a:t>
            </a:r>
            <a:endParaRPr lang="en-US" sz="1050" dirty="0"/>
          </a:p>
        </p:txBody>
      </p:sp>
      <p:sp>
        <p:nvSpPr>
          <p:cNvPr id="16" name="Text 14"/>
          <p:cNvSpPr/>
          <p:nvPr/>
        </p:nvSpPr>
        <p:spPr>
          <a:xfrm>
            <a:off x="502920" y="3246120"/>
            <a:ext cx="11155680" cy="1371600"/>
          </a:xfrm>
          <a:prstGeom prst="rect">
            <a:avLst/>
          </a:prstGeom>
          <a:noFill/>
          <a:ln/>
        </p:spPr>
        <p:txBody>
          <a:bodyPr wrap="square" rtlCol="0" anchor="ctr"/>
          <a:lstStyle/>
          <a:p>
            <a:pPr indent="0" marL="0">
              <a:lnSpc>
                <a:spcPct val="125000"/>
              </a:lnSpc>
              <a:buNone/>
            </a:pPr>
            <a:r>
              <a:rPr lang="en-US" sz="1300" dirty="0">
                <a:solidFill>
                  <a:srgbClr val="1A1A1A"/>
                </a:solidFill>
                <a:latin typeface="Arial" pitchFamily="34" charset="0"/>
                <a:ea typeface="Arial" pitchFamily="34" charset="-122"/>
                <a:cs typeface="Arial" pitchFamily="34" charset="-120"/>
              </a:rPr>
              <a:t>Microsoft's acquisition of Activision Blizzard is the largest transaction in the video game industry's history and the largest acquisition in Microsoft's corporate history. </a:t>
            </a:r>
            <a:pPr indent="0" marL="0">
              <a:lnSpc>
                <a:spcPct val="125000"/>
              </a:lnSpc>
              <a:buNone/>
            </a:pPr>
            <a:r>
              <a:rPr lang="en-US" sz="1300" dirty="0">
                <a:solidFill>
                  <a:srgbClr val="1A1A1A"/>
                </a:solidFill>
                <a:latin typeface="Arial" pitchFamily="34" charset="0"/>
                <a:ea typeface="Arial" pitchFamily="34" charset="-122"/>
                <a:cs typeface="Arial" pitchFamily="34" charset="-120"/>
              </a:rPr>
              <a:t>The deal was designed to accelerate Xbox Game Pass subscription growth, establish a leadership position in mobile gaming via King, and build scale in cloud gaming — while surviving the most extensive multi-jurisdictional antitrust contest yet seen in technology M&amp;A.</a:t>
            </a:r>
            <a:endParaRPr lang="en-US" sz="1300" dirty="0"/>
          </a:p>
        </p:txBody>
      </p:sp>
      <p:sp>
        <p:nvSpPr>
          <p:cNvPr id="17" name="Shape 15"/>
          <p:cNvSpPr/>
          <p:nvPr/>
        </p:nvSpPr>
        <p:spPr>
          <a:xfrm>
            <a:off x="502920" y="4800600"/>
            <a:ext cx="11155680" cy="1417320"/>
          </a:xfrm>
          <a:prstGeom prst="roundRect">
            <a:avLst>
              <a:gd name="adj" fmla="val 3871"/>
            </a:avLst>
          </a:prstGeom>
          <a:solidFill>
            <a:srgbClr val="0A2342"/>
          </a:solidFill>
          <a:ln/>
          <a:effectLst>
            <a:outerShdw sx="100000" sy="100000" kx="0" ky="0" algn="bl" rotWithShape="0" blurRad="76200" dist="25400" dir="5400000">
              <a:srgbClr val="8C97A6">
                <a:alpha val="25000"/>
              </a:srgbClr>
            </a:outerShdw>
          </a:effectLst>
        </p:spPr>
      </p:sp>
      <p:sp>
        <p:nvSpPr>
          <p:cNvPr id="18" name="Text 16"/>
          <p:cNvSpPr/>
          <p:nvPr/>
        </p:nvSpPr>
        <p:spPr>
          <a:xfrm>
            <a:off x="777240" y="4956048"/>
            <a:ext cx="10607040" cy="1097280"/>
          </a:xfrm>
          <a:prstGeom prst="rect">
            <a:avLst/>
          </a:prstGeom>
          <a:noFill/>
          <a:ln/>
        </p:spPr>
        <p:txBody>
          <a:bodyPr wrap="square" rtlCol="0" anchor="ctr"/>
          <a:lstStyle/>
          <a:p>
            <a:pPr indent="0" marL="0">
              <a:lnSpc>
                <a:spcPct val="120000"/>
              </a:lnSpc>
              <a:buNone/>
            </a:pPr>
            <a:r>
              <a:rPr lang="en-US" sz="1350" i="1" dirty="0">
                <a:solidFill>
                  <a:srgbClr val="FFFFFF"/>
                </a:solidFill>
                <a:latin typeface="Arial" pitchFamily="34" charset="0"/>
                <a:ea typeface="Arial" pitchFamily="34" charset="-122"/>
                <a:cs typeface="Arial" pitchFamily="34" charset="-120"/>
              </a:rPr>
              <a:t>Bottom line: a strategically coherent, full-value acquisition, financed conservatively, that has delivered clear commercial validation (Call of Duty: Black Ops 6) alongside substantial integration disruption — with financial value creation still being confirmed.</a:t>
            </a:r>
            <a:endParaRPr lang="en-US" sz="1350" dirty="0"/>
          </a:p>
        </p:txBody>
      </p:sp>
      <p:sp>
        <p:nvSpPr>
          <p:cNvPr id="19" name="Text 17"/>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20" name="Text 18"/>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2</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Transaction Overview</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914400"/>
        </p:xfrm>
        <a:graphic>
          <a:graphicData uri="http://schemas.openxmlformats.org/drawingml/2006/table">
            <a:tbl>
              <a:tblPr/>
              <a:tblGrid>
                <a:gridCol w="3108960"/>
                <a:gridCol w="8046720"/>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Acquirer</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Microsoft Corporation (NASDAQ: MSFT)</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Target</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Activision Blizzard, Inc. (formerly NASDAQ: ATVI)</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Consideration</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$95.00 per share, all-cash</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Equity Purchase Price</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$68.7bn (announced) / $75.4bn (final, at closing)</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Implied Enterprise Value</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~$62.3bn (net of target cash)</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Announcement / Closing</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January 18, 2022  /  October 13, 2023</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Structure</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Reverse triangular merger; all-cash; balance sheet cash + $27bn short-term borrowings</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Acquirer / Target Advisors</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Goldman Sachs &amp; Co. LLC  /  Allen &amp; Company LLC</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Regulatory Approvals</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United States (FTC), United Kingdom (CMA), European Union (EC), ~40 other jurisdictions</a:t>
                      </a:r>
                      <a:endParaRPr lang="en-US" sz="1150" dirty="0">
                        <a:latin typeface="Arial" charset="0"/>
                        <a:ea typeface="Arial" charset="0"/>
                        <a:cs typeface="Arial" charset="0"/>
                      </a:endParaRPr>
                    </a:p>
                  </a:txBody>
                  <a:tcPr marL="101600" marR="1016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6" name="Text 3"/>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3</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Acquirer Overview — Microsoft Corporation</a:t>
            </a:r>
            <a:endParaRPr lang="en-US" sz="2700" dirty="0"/>
          </a:p>
        </p:txBody>
      </p:sp>
      <p:sp>
        <p:nvSpPr>
          <p:cNvPr id="4" name="Text 2"/>
          <p:cNvSpPr/>
          <p:nvPr/>
        </p:nvSpPr>
        <p:spPr>
          <a:xfrm>
            <a:off x="502920" y="1371600"/>
            <a:ext cx="5486400" cy="2377440"/>
          </a:xfrm>
          <a:prstGeom prst="rect">
            <a:avLst/>
          </a:prstGeom>
          <a:noFill/>
          <a:ln/>
        </p:spPr>
        <p:txBody>
          <a:bodyPr wrap="square" rtlCol="0" anchor="t"/>
          <a:lstStyle/>
          <a:p>
            <a:pPr indent="0" marL="0">
              <a:lnSpc>
                <a:spcPct val="135000"/>
              </a:lnSpc>
              <a:buNone/>
            </a:pPr>
            <a:r>
              <a:rPr lang="en-US" sz="1250" dirty="0">
                <a:solidFill>
                  <a:srgbClr val="1A1A1A"/>
                </a:solidFill>
                <a:latin typeface="Arial" pitchFamily="34" charset="0"/>
                <a:ea typeface="Arial" pitchFamily="34" charset="-122"/>
                <a:cs typeface="Arial" pitchFamily="34" charset="-120"/>
              </a:rPr>
              <a:t>• Redmond, WA-headquartered technology company; ~$2.3tn market cap at signing
</a:t>
            </a:r>
            <a:pPr indent="0" marL="0">
              <a:lnSpc>
                <a:spcPct val="135000"/>
              </a:lnSpc>
              <a:buNone/>
            </a:pPr>
            <a:r>
              <a:rPr lang="en-US" sz="1250" dirty="0">
                <a:solidFill>
                  <a:srgbClr val="1A1A1A"/>
                </a:solidFill>
                <a:latin typeface="Arial" pitchFamily="34" charset="0"/>
                <a:ea typeface="Arial" pitchFamily="34" charset="-122"/>
                <a:cs typeface="Arial" pitchFamily="34" charset="-120"/>
              </a:rPr>
              <a:t>• Three segments: Productivity &amp; Business Processes, Intelligent Cloud, More Personal Computing (incl. Gaming)
</a:t>
            </a:r>
            <a:pPr indent="0" marL="0">
              <a:lnSpc>
                <a:spcPct val="135000"/>
              </a:lnSpc>
              <a:buNone/>
            </a:pPr>
            <a:r>
              <a:rPr lang="en-US" sz="1250" dirty="0">
                <a:solidFill>
                  <a:srgbClr val="1A1A1A"/>
                </a:solidFill>
                <a:latin typeface="Arial" pitchFamily="34" charset="0"/>
                <a:ea typeface="Arial" pitchFamily="34" charset="-122"/>
                <a:cs typeface="Arial" pitchFamily="34" charset="-120"/>
              </a:rPr>
              <a:t>• Cloud-and-subscription-first strategy; Xbox Game Pass is the gaming analogue of Office 365
</a:t>
            </a:r>
            <a:pPr indent="0" marL="0">
              <a:lnSpc>
                <a:spcPct val="135000"/>
              </a:lnSpc>
              <a:buNone/>
            </a:pPr>
            <a:r>
              <a:rPr lang="en-US" sz="1250" dirty="0">
                <a:solidFill>
                  <a:srgbClr val="1A1A1A"/>
                </a:solidFill>
                <a:latin typeface="Arial" pitchFamily="34" charset="0"/>
                <a:ea typeface="Arial" pitchFamily="34" charset="-122"/>
                <a:cs typeface="Arial" pitchFamily="34" charset="-120"/>
              </a:rPr>
              <a:t>• ~$125–132bn of cash &amp; short-term investments at signing; top-tier (Aaa/AAA-adjacent) credit profile</a:t>
            </a:r>
            <a:endParaRPr lang="en-US" sz="1250" dirty="0"/>
          </a:p>
        </p:txBody>
      </p:sp>
      <p:graphicFrame>
        <p:nvGraphicFramePr>
          <p:cNvPr id="5" name="Chart 0" descr=""/>
          <p:cNvGraphicFramePr/>
          <p:nvPr/>
        </p:nvGraphicFramePr>
        <p:xfrm>
          <a:off x="6126480" y="1325880"/>
          <a:ext cx="553212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02920" y="3977640"/>
            <a:ext cx="11155680" cy="2148840"/>
          </a:xfrm>
          <a:prstGeom prst="roundRect">
            <a:avLst>
              <a:gd name="adj" fmla="val 2553"/>
            </a:avLst>
          </a:prstGeom>
          <a:solidFill>
            <a:srgbClr val="F3F5F7"/>
          </a:solidFill>
          <a:ln/>
          <a:effectLst>
            <a:outerShdw sx="100000" sy="100000" kx="0" ky="0" algn="bl" rotWithShape="0" blurRad="76200" dist="25400" dir="5400000">
              <a:srgbClr val="8C97A6">
                <a:alpha val="25000"/>
              </a:srgbClr>
            </a:outerShdw>
          </a:effectLst>
        </p:spPr>
      </p:sp>
      <p:sp>
        <p:nvSpPr>
          <p:cNvPr id="7" name="Text 4"/>
          <p:cNvSpPr/>
          <p:nvPr/>
        </p:nvSpPr>
        <p:spPr>
          <a:xfrm>
            <a:off x="731520" y="4114800"/>
            <a:ext cx="548640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Competitive Advantages</a:t>
            </a:r>
            <a:endParaRPr lang="en-US" sz="1300" dirty="0"/>
          </a:p>
        </p:txBody>
      </p:sp>
      <p:sp>
        <p:nvSpPr>
          <p:cNvPr id="8" name="Text 5"/>
          <p:cNvSpPr/>
          <p:nvPr/>
        </p:nvSpPr>
        <p:spPr>
          <a:xfrm>
            <a:off x="731520" y="4480560"/>
            <a:ext cx="10698480" cy="1554480"/>
          </a:xfrm>
          <a:prstGeom prst="rect">
            <a:avLst/>
          </a:prstGeom>
          <a:noFill/>
          <a:ln/>
        </p:spPr>
        <p:txBody>
          <a:bodyPr wrap="square" rtlCol="0" anchor="ctr"/>
          <a:lstStyle/>
          <a:p>
            <a:pPr indent="0" marL="0">
              <a:lnSpc>
                <a:spcPct val="130000"/>
              </a:lnSpc>
              <a:buNone/>
            </a:pPr>
            <a:r>
              <a:rPr lang="en-US" sz="1150" dirty="0">
                <a:solidFill>
                  <a:srgbClr val="1A1A1A"/>
                </a:solidFill>
                <a:latin typeface="Arial" pitchFamily="34" charset="0"/>
                <a:ea typeface="Arial" pitchFamily="34" charset="-122"/>
                <a:cs typeface="Arial" pitchFamily="34" charset="-120"/>
              </a:rPr>
              <a:t>• Balance sheet scale enabling an unconditioned, all-cash offer at this size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Cross-platform distribution: Windows, Xbox, and Azure — unmatched by any pure-play publisher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Azure hyperscale infrastructure underpins Xbox Cloud Gaming's structural cost advantage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Proven subscription go-to-market muscle (Office 365) transferable to Game Pass</a:t>
            </a:r>
            <a:endParaRPr lang="en-US" sz="115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10" name="Text 7"/>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3</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Target Overview — Activision Blizzard, Inc.</a:t>
            </a:r>
            <a:endParaRPr lang="en-US" sz="2700" dirty="0"/>
          </a:p>
        </p:txBody>
      </p:sp>
      <p:graphicFrame>
        <p:nvGraphicFramePr>
          <p:cNvPr id="4" name="Chart 0" descr=""/>
          <p:cNvGraphicFramePr/>
          <p:nvPr/>
        </p:nvGraphicFramePr>
        <p:xfrm>
          <a:off x="457200" y="1325880"/>
          <a:ext cx="557784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263640" y="1371600"/>
            <a:ext cx="5394960" cy="3291840"/>
          </a:xfrm>
          <a:prstGeom prst="rect">
            <a:avLst/>
          </a:prstGeom>
          <a:noFill/>
          <a:ln/>
        </p:spPr>
        <p:txBody>
          <a:bodyPr wrap="square" rtlCol="0" anchor="t"/>
          <a:lstStyle/>
          <a:p>
            <a:pPr indent="0" marL="0">
              <a:lnSpc>
                <a:spcPct val="130000"/>
              </a:lnSpc>
              <a:buNone/>
            </a:pPr>
            <a:r>
              <a:rPr lang="en-US" sz="1300" b="1" dirty="0">
                <a:solidFill>
                  <a:srgbClr val="0A2342"/>
                </a:solidFill>
                <a:latin typeface="Arial" pitchFamily="34" charset="0"/>
                <a:ea typeface="Arial" pitchFamily="34" charset="-122"/>
                <a:cs typeface="Arial" pitchFamily="34" charset="-120"/>
              </a:rPr>
              <a:t>Three Reportable Segments
</a:t>
            </a:r>
            <a:pPr indent="0" marL="0">
              <a:lnSpc>
                <a:spcPct val="130000"/>
              </a:lnSpc>
              <a:buNone/>
            </a:pPr>
            <a:r>
              <a:rPr lang="en-US" sz="1150" dirty="0">
                <a:solidFill>
                  <a:srgbClr val="000000"/>
                </a:solidFill>
                <a:latin typeface="Arial" pitchFamily="34" charset="0"/>
                <a:ea typeface="Arial" pitchFamily="34" charset="-122"/>
                <a:cs typeface="Arial" pitchFamily="34" charset="-120"/>
              </a:rPr>
              <a:t>• Activision — Call of Duty (premium + mobile), ~$4.4bn
</a:t>
            </a:r>
            <a:pPr indent="0" marL="0">
              <a:lnSpc>
                <a:spcPct val="130000"/>
              </a:lnSpc>
              <a:buNone/>
            </a:pPr>
            <a:r>
              <a:rPr lang="en-US" sz="1150" dirty="0">
                <a:solidFill>
                  <a:srgbClr val="000000"/>
                </a:solidFill>
                <a:latin typeface="Arial" pitchFamily="34" charset="0"/>
                <a:ea typeface="Arial" pitchFamily="34" charset="-122"/>
                <a:cs typeface="Arial" pitchFamily="34" charset="-120"/>
              </a:rPr>
              <a:t>• Blizzard Entertainment — WoW, Diablo, Overwatch, ~$1.9bn
</a:t>
            </a:r>
            <a:pPr indent="0" marL="0">
              <a:lnSpc>
                <a:spcPct val="130000"/>
              </a:lnSpc>
              <a:buNone/>
            </a:pPr>
            <a:r>
              <a:rPr lang="en-US" sz="1150" dirty="0">
                <a:solidFill>
                  <a:srgbClr val="000000"/>
                </a:solidFill>
                <a:latin typeface="Arial" pitchFamily="34" charset="0"/>
                <a:ea typeface="Arial" pitchFamily="34" charset="-122"/>
                <a:cs typeface="Arial" pitchFamily="34" charset="-120"/>
              </a:rPr>
              <a:t>• King — Candy Crush Saga (mobile F2P), ~$2.6bn
</a:t>
            </a:r>
            <a:pPr indent="0" marL="0">
              <a:lnSpc>
                <a:spcPct val="130000"/>
              </a:lnSpc>
              <a:buNone/>
            </a:pPr>
            <a:r>
              <a:rPr lang="en-US" sz="1150" i="1" dirty="0">
                <a:solidFill>
                  <a:srgbClr val="6B7684"/>
                </a:solidFill>
                <a:latin typeface="Arial" pitchFamily="34" charset="0"/>
                <a:ea typeface="Arial" pitchFamily="34" charset="-122"/>
                <a:cs typeface="Arial" pitchFamily="34" charset="-120"/>
              </a:rPr>
              <a:t>Three billion-dollar franchises (Call of Duty, World of Warcraft, Candy Crush) — an unusually high concentration of evergreen IP that commanded strategic buyer interest despite a depressed, scandal-affected trading price.</a:t>
            </a:r>
            <a:endParaRPr lang="en-US" sz="1300" dirty="0"/>
          </a:p>
        </p:txBody>
      </p:sp>
      <p:sp>
        <p:nvSpPr>
          <p:cNvPr id="6" name="Shape 3"/>
          <p:cNvSpPr/>
          <p:nvPr/>
        </p:nvSpPr>
        <p:spPr>
          <a:xfrm>
            <a:off x="502920" y="4709160"/>
            <a:ext cx="11155680" cy="1417320"/>
          </a:xfrm>
          <a:prstGeom prst="roundRect">
            <a:avLst>
              <a:gd name="adj" fmla="val 3871"/>
            </a:avLst>
          </a:prstGeom>
          <a:solidFill>
            <a:srgbClr val="0A2342"/>
          </a:solidFill>
          <a:ln/>
          <a:effectLst>
            <a:outerShdw sx="100000" sy="100000" kx="0" ky="0" algn="bl" rotWithShape="0" blurRad="76200" dist="25400" dir="5400000">
              <a:srgbClr val="8C97A6">
                <a:alpha val="25000"/>
              </a:srgbClr>
            </a:outerShdw>
          </a:effectLst>
        </p:spPr>
      </p:sp>
      <p:sp>
        <p:nvSpPr>
          <p:cNvPr id="7" name="Text 4"/>
          <p:cNvSpPr/>
          <p:nvPr/>
        </p:nvSpPr>
        <p:spPr>
          <a:xfrm>
            <a:off x="777240" y="4892040"/>
            <a:ext cx="10607040" cy="1051560"/>
          </a:xfrm>
          <a:prstGeom prst="rect">
            <a:avLst/>
          </a:prstGeom>
          <a:noFill/>
          <a:ln/>
        </p:spPr>
        <p:txBody>
          <a:bodyPr wrap="square"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~9,500–10,000 employees  •  ~400mn monthly active users  •  ~190 countries  •  ~43% EBITDA margin (FY2021)</a:t>
            </a:r>
            <a:endParaRPr lang="en-US" sz="1350" dirty="0"/>
          </a:p>
        </p:txBody>
      </p:sp>
      <p:sp>
        <p:nvSpPr>
          <p:cNvPr id="8" name="Text 5"/>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9" name="Text 6"/>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4</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Gaming Industry Overview</a:t>
            </a:r>
            <a:endParaRPr lang="en-US" sz="2700" dirty="0"/>
          </a:p>
        </p:txBody>
      </p:sp>
      <p:graphicFrame>
        <p:nvGraphicFramePr>
          <p:cNvPr id="4" name="Chart 0" descr=""/>
          <p:cNvGraphicFramePr/>
          <p:nvPr/>
        </p:nvGraphicFramePr>
        <p:xfrm>
          <a:off x="457200" y="1280160"/>
          <a:ext cx="64922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7178040" y="1280160"/>
          <a:ext cx="4480560" cy="329184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502920" y="4800600"/>
            <a:ext cx="11155680" cy="1188720"/>
          </a:xfrm>
          <a:prstGeom prst="rect">
            <a:avLst/>
          </a:prstGeom>
          <a:noFill/>
          <a:ln/>
        </p:spPr>
        <p:txBody>
          <a:bodyPr wrap="square" rtlCol="0" anchor="ctr"/>
          <a:lstStyle/>
          <a:p>
            <a:pPr indent="0" marL="0">
              <a:lnSpc>
                <a:spcPct val="130000"/>
              </a:lnSpc>
              <a:buNone/>
            </a:pPr>
            <a:r>
              <a:rPr lang="en-US" sz="1200" i="1" dirty="0">
                <a:solidFill>
                  <a:srgbClr val="6B7684"/>
                </a:solidFill>
                <a:latin typeface="Arial" pitchFamily="34" charset="0"/>
                <a:ea typeface="Arial" pitchFamily="34" charset="-122"/>
                <a:cs typeface="Arial" pitchFamily="34" charset="-120"/>
              </a:rPr>
              <a:t>Largest entertainment category globally by consumer spend — bigger than film box office and recorded music combined. Mobile is the largest and most contested platform segment; industry-wide consolidation (Take-Two/Zynga, Sony/Bungie) accompanied this transaction.</a:t>
            </a:r>
            <a:endParaRPr lang="en-US" sz="1200" dirty="0"/>
          </a:p>
        </p:txBody>
      </p:sp>
      <p:sp>
        <p:nvSpPr>
          <p:cNvPr id="7"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8"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5</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Investment Highlights</a:t>
            </a:r>
            <a:endParaRPr lang="en-US" sz="2700" dirty="0"/>
          </a:p>
        </p:txBody>
      </p:sp>
      <p:sp>
        <p:nvSpPr>
          <p:cNvPr id="4" name="Shape 2"/>
          <p:cNvSpPr/>
          <p:nvPr/>
        </p:nvSpPr>
        <p:spPr>
          <a:xfrm>
            <a:off x="502920" y="1371600"/>
            <a:ext cx="5440680" cy="1389888"/>
          </a:xfrm>
          <a:prstGeom prst="roundRect">
            <a:avLst>
              <a:gd name="adj" fmla="val 3947"/>
            </a:avLst>
          </a:prstGeom>
          <a:solidFill>
            <a:srgbClr val="F3F5F7"/>
          </a:solidFill>
          <a:ln/>
          <a:effectLst>
            <a:outerShdw sx="100000" sy="100000" kx="0" ky="0" algn="bl" rotWithShape="0" blurRad="76200" dist="25400" dir="5400000">
              <a:srgbClr val="8C97A6">
                <a:alpha val="25000"/>
              </a:srgbClr>
            </a:outerShdw>
          </a:effectLst>
        </p:spPr>
      </p:sp>
      <p:sp>
        <p:nvSpPr>
          <p:cNvPr id="5" name="Shape 3"/>
          <p:cNvSpPr/>
          <p:nvPr/>
        </p:nvSpPr>
        <p:spPr>
          <a:xfrm>
            <a:off x="667512" y="1536192"/>
            <a:ext cx="384048" cy="384048"/>
          </a:xfrm>
          <a:prstGeom prst="roundRect">
            <a:avLst>
              <a:gd name="adj" fmla="val 50000"/>
            </a:avLst>
          </a:prstGeom>
          <a:solidFill>
            <a:srgbClr val="2F80ED"/>
          </a:solidFill>
          <a:ln/>
        </p:spPr>
      </p:sp>
      <p:sp>
        <p:nvSpPr>
          <p:cNvPr id="6" name="Text 4"/>
          <p:cNvSpPr/>
          <p:nvPr/>
        </p:nvSpPr>
        <p:spPr>
          <a:xfrm>
            <a:off x="667512" y="1536192"/>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188720" y="1490472"/>
            <a:ext cx="461772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Subscription Flywheel</a:t>
            </a:r>
            <a:endParaRPr lang="en-US" sz="1300" dirty="0"/>
          </a:p>
        </p:txBody>
      </p:sp>
      <p:sp>
        <p:nvSpPr>
          <p:cNvPr id="8" name="Text 6"/>
          <p:cNvSpPr/>
          <p:nvPr/>
        </p:nvSpPr>
        <p:spPr>
          <a:xfrm>
            <a:off x="1188720" y="1810512"/>
            <a:ext cx="4617720" cy="896112"/>
          </a:xfrm>
          <a:prstGeom prst="rect">
            <a:avLst/>
          </a:prstGeom>
          <a:noFill/>
          <a:ln/>
        </p:spPr>
        <p:txBody>
          <a:bodyPr wrap="square" rtlCol="0" anchor="ctr"/>
          <a:lstStyle/>
          <a:p>
            <a:pPr indent="0" marL="0">
              <a:lnSpc>
                <a:spcPct val="120000"/>
              </a:lnSpc>
              <a:buNone/>
            </a:pPr>
            <a:r>
              <a:rPr lang="en-US" sz="1000" dirty="0">
                <a:solidFill>
                  <a:srgbClr val="1A1A1A"/>
                </a:solidFill>
                <a:latin typeface="Arial" pitchFamily="34" charset="0"/>
                <a:ea typeface="Arial" pitchFamily="34" charset="-122"/>
                <a:cs typeface="Arial" pitchFamily="34" charset="-120"/>
              </a:rPr>
              <a:t>Owning (not licensing) marquee franchises removes recurring licensing risk and accelerates Xbox Game Pass subscriber growth and retention.</a:t>
            </a:r>
            <a:endParaRPr lang="en-US" sz="1000" dirty="0"/>
          </a:p>
        </p:txBody>
      </p:sp>
      <p:sp>
        <p:nvSpPr>
          <p:cNvPr id="9" name="Shape 7"/>
          <p:cNvSpPr/>
          <p:nvPr/>
        </p:nvSpPr>
        <p:spPr>
          <a:xfrm>
            <a:off x="6217920" y="1371600"/>
            <a:ext cx="5440680" cy="1389888"/>
          </a:xfrm>
          <a:prstGeom prst="roundRect">
            <a:avLst>
              <a:gd name="adj" fmla="val 3947"/>
            </a:avLst>
          </a:prstGeom>
          <a:solidFill>
            <a:srgbClr val="F3F5F7"/>
          </a:solidFill>
          <a:ln/>
          <a:effectLst>
            <a:outerShdw sx="100000" sy="100000" kx="0" ky="0" algn="bl" rotWithShape="0" blurRad="76200" dist="25400" dir="5400000">
              <a:srgbClr val="8C97A6">
                <a:alpha val="25000"/>
              </a:srgbClr>
            </a:outerShdw>
          </a:effectLst>
        </p:spPr>
      </p:sp>
      <p:sp>
        <p:nvSpPr>
          <p:cNvPr id="10" name="Shape 8"/>
          <p:cNvSpPr/>
          <p:nvPr/>
        </p:nvSpPr>
        <p:spPr>
          <a:xfrm>
            <a:off x="6382512" y="1536192"/>
            <a:ext cx="384048" cy="384048"/>
          </a:xfrm>
          <a:prstGeom prst="roundRect">
            <a:avLst>
              <a:gd name="adj" fmla="val 50000"/>
            </a:avLst>
          </a:prstGeom>
          <a:solidFill>
            <a:srgbClr val="2F80ED"/>
          </a:solidFill>
          <a:ln/>
        </p:spPr>
      </p:sp>
      <p:sp>
        <p:nvSpPr>
          <p:cNvPr id="11" name="Text 9"/>
          <p:cNvSpPr/>
          <p:nvPr/>
        </p:nvSpPr>
        <p:spPr>
          <a:xfrm>
            <a:off x="6382512" y="1536192"/>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6903720" y="1490472"/>
            <a:ext cx="461772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Mobile Gaming at Scale</a:t>
            </a:r>
            <a:endParaRPr lang="en-US" sz="1300" dirty="0"/>
          </a:p>
        </p:txBody>
      </p:sp>
      <p:sp>
        <p:nvSpPr>
          <p:cNvPr id="13" name="Text 11"/>
          <p:cNvSpPr/>
          <p:nvPr/>
        </p:nvSpPr>
        <p:spPr>
          <a:xfrm>
            <a:off x="6903720" y="1810512"/>
            <a:ext cx="4617720" cy="896112"/>
          </a:xfrm>
          <a:prstGeom prst="rect">
            <a:avLst/>
          </a:prstGeom>
          <a:noFill/>
          <a:ln/>
        </p:spPr>
        <p:txBody>
          <a:bodyPr wrap="square" rtlCol="0" anchor="ctr"/>
          <a:lstStyle/>
          <a:p>
            <a:pPr indent="0" marL="0">
              <a:lnSpc>
                <a:spcPct val="120000"/>
              </a:lnSpc>
              <a:buNone/>
            </a:pPr>
            <a:r>
              <a:rPr lang="en-US" sz="1000" dirty="0">
                <a:solidFill>
                  <a:srgbClr val="1A1A1A"/>
                </a:solidFill>
                <a:latin typeface="Arial" pitchFamily="34" charset="0"/>
                <a:ea typeface="Arial" pitchFamily="34" charset="-122"/>
                <a:cs typeface="Arial" pitchFamily="34" charset="-120"/>
              </a:rPr>
              <a:t>King's Candy Crush franchise provides immediate, scaled entry into the largest platform segment — one Microsoft lacked standalone.</a:t>
            </a:r>
            <a:endParaRPr lang="en-US" sz="1000" dirty="0"/>
          </a:p>
        </p:txBody>
      </p:sp>
      <p:sp>
        <p:nvSpPr>
          <p:cNvPr id="14" name="Shape 12"/>
          <p:cNvSpPr/>
          <p:nvPr/>
        </p:nvSpPr>
        <p:spPr>
          <a:xfrm>
            <a:off x="502920" y="2907792"/>
            <a:ext cx="5440680" cy="1389888"/>
          </a:xfrm>
          <a:prstGeom prst="roundRect">
            <a:avLst>
              <a:gd name="adj" fmla="val 3947"/>
            </a:avLst>
          </a:prstGeom>
          <a:solidFill>
            <a:srgbClr val="F3F5F7"/>
          </a:solidFill>
          <a:ln/>
          <a:effectLst>
            <a:outerShdw sx="100000" sy="100000" kx="0" ky="0" algn="bl" rotWithShape="0" blurRad="76200" dist="25400" dir="5400000">
              <a:srgbClr val="8C97A6">
                <a:alpha val="25000"/>
              </a:srgbClr>
            </a:outerShdw>
          </a:effectLst>
        </p:spPr>
      </p:sp>
      <p:sp>
        <p:nvSpPr>
          <p:cNvPr id="15" name="Shape 13"/>
          <p:cNvSpPr/>
          <p:nvPr/>
        </p:nvSpPr>
        <p:spPr>
          <a:xfrm>
            <a:off x="667512" y="3072384"/>
            <a:ext cx="384048" cy="384048"/>
          </a:xfrm>
          <a:prstGeom prst="roundRect">
            <a:avLst>
              <a:gd name="adj" fmla="val 50000"/>
            </a:avLst>
          </a:prstGeom>
          <a:solidFill>
            <a:srgbClr val="2F80ED"/>
          </a:solidFill>
          <a:ln/>
        </p:spPr>
      </p:sp>
      <p:sp>
        <p:nvSpPr>
          <p:cNvPr id="16" name="Text 14"/>
          <p:cNvSpPr/>
          <p:nvPr/>
        </p:nvSpPr>
        <p:spPr>
          <a:xfrm>
            <a:off x="667512" y="3072384"/>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188720" y="3026664"/>
            <a:ext cx="461772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Cloud Gaming Content Moat</a:t>
            </a:r>
            <a:endParaRPr lang="en-US" sz="1300" dirty="0"/>
          </a:p>
        </p:txBody>
      </p:sp>
      <p:sp>
        <p:nvSpPr>
          <p:cNvPr id="18" name="Text 16"/>
          <p:cNvSpPr/>
          <p:nvPr/>
        </p:nvSpPr>
        <p:spPr>
          <a:xfrm>
            <a:off x="1188720" y="3346704"/>
            <a:ext cx="4617720" cy="896112"/>
          </a:xfrm>
          <a:prstGeom prst="rect">
            <a:avLst/>
          </a:prstGeom>
          <a:noFill/>
          <a:ln/>
        </p:spPr>
        <p:txBody>
          <a:bodyPr wrap="square" rtlCol="0" anchor="ctr"/>
          <a:lstStyle/>
          <a:p>
            <a:pPr indent="0" marL="0">
              <a:lnSpc>
                <a:spcPct val="120000"/>
              </a:lnSpc>
              <a:buNone/>
            </a:pPr>
            <a:r>
              <a:rPr lang="en-US" sz="1000" dirty="0">
                <a:solidFill>
                  <a:srgbClr val="1A1A1A"/>
                </a:solidFill>
                <a:latin typeface="Arial" pitchFamily="34" charset="0"/>
                <a:ea typeface="Arial" pitchFamily="34" charset="-122"/>
                <a:cs typeface="Arial" pitchFamily="34" charset="-120"/>
              </a:rPr>
              <a:t>First-party ownership anchors Xbox Cloud Gaming's differentiation, leveraging Azure's hyperscale infrastructure.</a:t>
            </a:r>
            <a:endParaRPr lang="en-US" sz="1000" dirty="0"/>
          </a:p>
        </p:txBody>
      </p:sp>
      <p:sp>
        <p:nvSpPr>
          <p:cNvPr id="19" name="Shape 17"/>
          <p:cNvSpPr/>
          <p:nvPr/>
        </p:nvSpPr>
        <p:spPr>
          <a:xfrm>
            <a:off x="6217920" y="2907792"/>
            <a:ext cx="5440680" cy="1389888"/>
          </a:xfrm>
          <a:prstGeom prst="roundRect">
            <a:avLst>
              <a:gd name="adj" fmla="val 3947"/>
            </a:avLst>
          </a:prstGeom>
          <a:solidFill>
            <a:srgbClr val="F3F5F7"/>
          </a:solidFill>
          <a:ln/>
          <a:effectLst>
            <a:outerShdw sx="100000" sy="100000" kx="0" ky="0" algn="bl" rotWithShape="0" blurRad="76200" dist="25400" dir="5400000">
              <a:srgbClr val="8C97A6">
                <a:alpha val="25000"/>
              </a:srgbClr>
            </a:outerShdw>
          </a:effectLst>
        </p:spPr>
      </p:sp>
      <p:sp>
        <p:nvSpPr>
          <p:cNvPr id="20" name="Shape 18"/>
          <p:cNvSpPr/>
          <p:nvPr/>
        </p:nvSpPr>
        <p:spPr>
          <a:xfrm>
            <a:off x="6382512" y="3072384"/>
            <a:ext cx="384048" cy="384048"/>
          </a:xfrm>
          <a:prstGeom prst="roundRect">
            <a:avLst>
              <a:gd name="adj" fmla="val 50000"/>
            </a:avLst>
          </a:prstGeom>
          <a:solidFill>
            <a:srgbClr val="2F80ED"/>
          </a:solidFill>
          <a:ln/>
        </p:spPr>
      </p:sp>
      <p:sp>
        <p:nvSpPr>
          <p:cNvPr id="21" name="Text 19"/>
          <p:cNvSpPr/>
          <p:nvPr/>
        </p:nvSpPr>
        <p:spPr>
          <a:xfrm>
            <a:off x="6382512" y="3072384"/>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6903720" y="3026664"/>
            <a:ext cx="461772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Competitive Repositioning</a:t>
            </a:r>
            <a:endParaRPr lang="en-US" sz="1300" dirty="0"/>
          </a:p>
        </p:txBody>
      </p:sp>
      <p:sp>
        <p:nvSpPr>
          <p:cNvPr id="23" name="Text 21"/>
          <p:cNvSpPr/>
          <p:nvPr/>
        </p:nvSpPr>
        <p:spPr>
          <a:xfrm>
            <a:off x="6903720" y="3346704"/>
            <a:ext cx="4617720" cy="896112"/>
          </a:xfrm>
          <a:prstGeom prst="rect">
            <a:avLst/>
          </a:prstGeom>
          <a:noFill/>
          <a:ln/>
        </p:spPr>
        <p:txBody>
          <a:bodyPr wrap="square" rtlCol="0" anchor="ctr"/>
          <a:lstStyle/>
          <a:p>
            <a:pPr indent="0" marL="0">
              <a:lnSpc>
                <a:spcPct val="120000"/>
              </a:lnSpc>
              <a:buNone/>
            </a:pPr>
            <a:r>
              <a:rPr lang="en-US" sz="1000" dirty="0">
                <a:solidFill>
                  <a:srgbClr val="1A1A1A"/>
                </a:solidFill>
                <a:latin typeface="Arial" pitchFamily="34" charset="0"/>
                <a:ea typeface="Arial" pitchFamily="34" charset="-122"/>
                <a:cs typeface="Arial" pitchFamily="34" charset="-120"/>
              </a:rPr>
              <a:t>Moves Microsoft to the third-largest gaming company globally by revenue — a repositioning rarely achievable organically.</a:t>
            </a:r>
            <a:endParaRPr lang="en-US" sz="1000" dirty="0"/>
          </a:p>
        </p:txBody>
      </p:sp>
      <p:sp>
        <p:nvSpPr>
          <p:cNvPr id="24" name="Shape 22"/>
          <p:cNvSpPr/>
          <p:nvPr/>
        </p:nvSpPr>
        <p:spPr>
          <a:xfrm>
            <a:off x="502920" y="4443984"/>
            <a:ext cx="5440680" cy="1389888"/>
          </a:xfrm>
          <a:prstGeom prst="roundRect">
            <a:avLst>
              <a:gd name="adj" fmla="val 3947"/>
            </a:avLst>
          </a:prstGeom>
          <a:solidFill>
            <a:srgbClr val="F3F5F7"/>
          </a:solidFill>
          <a:ln/>
          <a:effectLst>
            <a:outerShdw sx="100000" sy="100000" kx="0" ky="0" algn="bl" rotWithShape="0" blurRad="76200" dist="25400" dir="5400000">
              <a:srgbClr val="8C97A6">
                <a:alpha val="25000"/>
              </a:srgbClr>
            </a:outerShdw>
          </a:effectLst>
        </p:spPr>
      </p:sp>
      <p:sp>
        <p:nvSpPr>
          <p:cNvPr id="25" name="Shape 23"/>
          <p:cNvSpPr/>
          <p:nvPr/>
        </p:nvSpPr>
        <p:spPr>
          <a:xfrm>
            <a:off x="667512" y="4608576"/>
            <a:ext cx="384048" cy="384048"/>
          </a:xfrm>
          <a:prstGeom prst="roundRect">
            <a:avLst>
              <a:gd name="adj" fmla="val 50000"/>
            </a:avLst>
          </a:prstGeom>
          <a:solidFill>
            <a:srgbClr val="2F80ED"/>
          </a:solidFill>
          <a:ln/>
        </p:spPr>
      </p:sp>
      <p:sp>
        <p:nvSpPr>
          <p:cNvPr id="26" name="Text 24"/>
          <p:cNvSpPr/>
          <p:nvPr/>
        </p:nvSpPr>
        <p:spPr>
          <a:xfrm>
            <a:off x="667512" y="4608576"/>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p:nvPr/>
        </p:nvSpPr>
        <p:spPr>
          <a:xfrm>
            <a:off x="1188720" y="4562856"/>
            <a:ext cx="461772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Disciplined Pricing</a:t>
            </a:r>
            <a:endParaRPr lang="en-US" sz="1300" dirty="0"/>
          </a:p>
        </p:txBody>
      </p:sp>
      <p:sp>
        <p:nvSpPr>
          <p:cNvPr id="28" name="Text 26"/>
          <p:cNvSpPr/>
          <p:nvPr/>
        </p:nvSpPr>
        <p:spPr>
          <a:xfrm>
            <a:off x="1188720" y="4882896"/>
            <a:ext cx="4617720" cy="896112"/>
          </a:xfrm>
          <a:prstGeom prst="rect">
            <a:avLst/>
          </a:prstGeom>
          <a:noFill/>
          <a:ln/>
        </p:spPr>
        <p:txBody>
          <a:bodyPr wrap="square" rtlCol="0" anchor="ctr"/>
          <a:lstStyle/>
          <a:p>
            <a:pPr indent="0" marL="0">
              <a:lnSpc>
                <a:spcPct val="120000"/>
              </a:lnSpc>
              <a:buNone/>
            </a:pPr>
            <a:r>
              <a:rPr lang="en-US" sz="1000" dirty="0">
                <a:solidFill>
                  <a:srgbClr val="1A1A1A"/>
                </a:solidFill>
                <a:latin typeface="Arial" pitchFamily="34" charset="0"/>
                <a:ea typeface="Arial" pitchFamily="34" charset="-122"/>
                <a:cs typeface="Arial" pitchFamily="34" charset="-120"/>
              </a:rPr>
              <a:t>Implied multiple sits below the average paid in comparable precedent gaming transactions (Section 8).</a:t>
            </a:r>
            <a:endParaRPr lang="en-US" sz="1000" dirty="0"/>
          </a:p>
        </p:txBody>
      </p:sp>
      <p:sp>
        <p:nvSpPr>
          <p:cNvPr id="29" name="Shape 27"/>
          <p:cNvSpPr/>
          <p:nvPr/>
        </p:nvSpPr>
        <p:spPr>
          <a:xfrm>
            <a:off x="6217920" y="4443984"/>
            <a:ext cx="5440680" cy="1389888"/>
          </a:xfrm>
          <a:prstGeom prst="roundRect">
            <a:avLst>
              <a:gd name="adj" fmla="val 3947"/>
            </a:avLst>
          </a:prstGeom>
          <a:solidFill>
            <a:srgbClr val="F3F5F7"/>
          </a:solidFill>
          <a:ln/>
          <a:effectLst>
            <a:outerShdw sx="100000" sy="100000" kx="0" ky="0" algn="bl" rotWithShape="0" blurRad="76200" dist="25400" dir="5400000">
              <a:srgbClr val="8C97A6">
                <a:alpha val="25000"/>
              </a:srgbClr>
            </a:outerShdw>
          </a:effectLst>
        </p:spPr>
      </p:sp>
      <p:sp>
        <p:nvSpPr>
          <p:cNvPr id="30" name="Shape 28"/>
          <p:cNvSpPr/>
          <p:nvPr/>
        </p:nvSpPr>
        <p:spPr>
          <a:xfrm>
            <a:off x="6382512" y="4608576"/>
            <a:ext cx="384048" cy="384048"/>
          </a:xfrm>
          <a:prstGeom prst="roundRect">
            <a:avLst>
              <a:gd name="adj" fmla="val 50000"/>
            </a:avLst>
          </a:prstGeom>
          <a:solidFill>
            <a:srgbClr val="2F80ED"/>
          </a:solidFill>
          <a:ln/>
        </p:spPr>
      </p:sp>
      <p:sp>
        <p:nvSpPr>
          <p:cNvPr id="31" name="Text 29"/>
          <p:cNvSpPr/>
          <p:nvPr/>
        </p:nvSpPr>
        <p:spPr>
          <a:xfrm>
            <a:off x="6382512" y="4608576"/>
            <a:ext cx="384048" cy="38404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2" name="Text 30"/>
          <p:cNvSpPr/>
          <p:nvPr/>
        </p:nvSpPr>
        <p:spPr>
          <a:xfrm>
            <a:off x="6903720" y="4562856"/>
            <a:ext cx="4617720" cy="320040"/>
          </a:xfrm>
          <a:prstGeom prst="rect">
            <a:avLst/>
          </a:prstGeom>
          <a:noFill/>
          <a:ln/>
        </p:spPr>
        <p:txBody>
          <a:bodyPr wrap="square" rtlCol="0" anchor="ctr"/>
          <a:lstStyle/>
          <a:p>
            <a:pPr indent="0" marL="0">
              <a:buNone/>
            </a:pPr>
            <a:r>
              <a:rPr lang="en-US" sz="1300" b="1" dirty="0">
                <a:solidFill>
                  <a:srgbClr val="0A2342"/>
                </a:solidFill>
                <a:latin typeface="Arial" pitchFamily="34" charset="0"/>
                <a:ea typeface="Arial" pitchFamily="34" charset="-122"/>
                <a:cs typeface="Arial" pitchFamily="34" charset="-120"/>
              </a:rPr>
              <a:t>Conservative Financing</a:t>
            </a:r>
            <a:endParaRPr lang="en-US" sz="1300" dirty="0"/>
          </a:p>
        </p:txBody>
      </p:sp>
      <p:sp>
        <p:nvSpPr>
          <p:cNvPr id="33" name="Text 31"/>
          <p:cNvSpPr/>
          <p:nvPr/>
        </p:nvSpPr>
        <p:spPr>
          <a:xfrm>
            <a:off x="6903720" y="4882896"/>
            <a:ext cx="4617720" cy="896112"/>
          </a:xfrm>
          <a:prstGeom prst="rect">
            <a:avLst/>
          </a:prstGeom>
          <a:noFill/>
          <a:ln/>
        </p:spPr>
        <p:txBody>
          <a:bodyPr wrap="square" rtlCol="0" anchor="ctr"/>
          <a:lstStyle/>
          <a:p>
            <a:pPr indent="0" marL="0">
              <a:lnSpc>
                <a:spcPct val="120000"/>
              </a:lnSpc>
              <a:buNone/>
            </a:pPr>
            <a:r>
              <a:rPr lang="en-US" sz="1000" dirty="0">
                <a:solidFill>
                  <a:srgbClr val="1A1A1A"/>
                </a:solidFill>
                <a:latin typeface="Arial" pitchFamily="34" charset="0"/>
                <a:ea typeface="Arial" pitchFamily="34" charset="-122"/>
                <a:cs typeface="Arial" pitchFamily="34" charset="-120"/>
              </a:rPr>
              <a:t>All-cash, minimal incremental leverage; Microsoft retained its top-tier credit ratings throughout.</a:t>
            </a:r>
            <a:endParaRPr lang="en-US" sz="1000" dirty="0"/>
          </a:p>
        </p:txBody>
      </p:sp>
      <p:sp>
        <p:nvSpPr>
          <p:cNvPr id="34" name="Text 32"/>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35" name="Text 33"/>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6</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Synergy Analysis</a:t>
            </a:r>
            <a:endParaRPr lang="en-US" sz="2700" dirty="0"/>
          </a:p>
        </p:txBody>
      </p:sp>
      <p:pic>
        <p:nvPicPr>
          <p:cNvPr id="4" name="Image 0" descr="/home/claude/charts/c12_synergy_framework.png">    </p:cNvPr>
          <p:cNvPicPr>
            <a:picLocks noChangeAspect="1"/>
          </p:cNvPicPr>
          <p:nvPr/>
        </p:nvPicPr>
        <p:blipFill>
          <a:blip r:embed="rId1"/>
          <a:stretch>
            <a:fillRect/>
          </a:stretch>
        </p:blipFill>
        <p:spPr>
          <a:xfrm>
            <a:off x="2743200" y="1280160"/>
            <a:ext cx="6675120" cy="3931920"/>
          </a:xfrm>
          <a:prstGeom prst="rect">
            <a:avLst/>
          </a:prstGeom>
        </p:spPr>
      </p:pic>
      <p:sp>
        <p:nvSpPr>
          <p:cNvPr id="5" name="Text 2"/>
          <p:cNvSpPr/>
          <p:nvPr/>
        </p:nvSpPr>
        <p:spPr>
          <a:xfrm>
            <a:off x="548640" y="5349240"/>
            <a:ext cx="11064240" cy="822960"/>
          </a:xfrm>
          <a:prstGeom prst="rect">
            <a:avLst/>
          </a:prstGeom>
          <a:noFill/>
          <a:ln/>
        </p:spPr>
        <p:txBody>
          <a:bodyPr wrap="square" rtlCol="0" anchor="ctr"/>
          <a:lstStyle/>
          <a:p>
            <a:pPr algn="ctr" indent="0" marL="0">
              <a:lnSpc>
                <a:spcPct val="125000"/>
              </a:lnSpc>
              <a:buNone/>
            </a:pPr>
            <a:r>
              <a:rPr lang="en-US" sz="1150" i="1" dirty="0">
                <a:solidFill>
                  <a:srgbClr val="6B7684"/>
                </a:solidFill>
                <a:latin typeface="Arial" pitchFamily="34" charset="0"/>
                <a:ea typeface="Arial" pitchFamily="34" charset="-122"/>
                <a:cs typeface="Arial" pitchFamily="34" charset="-120"/>
              </a:rPr>
              <a:t>Microsoft has not disclosed a formal, quantified synergy target. Revenue synergies (Game Pass, cross-sell) have materialized faster and more visibly than cost synergies, which have been realized through a protracted, multi-year cadence of layoffs and studio closures (Section 7.3).</a:t>
            </a:r>
            <a:endParaRPr lang="en-US" sz="1150" dirty="0"/>
          </a:p>
        </p:txBody>
      </p:sp>
      <p:sp>
        <p:nvSpPr>
          <p:cNvPr id="6"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7"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7</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Valuation Summary</a:t>
            </a:r>
            <a:endParaRPr lang="en-US" sz="2700" dirty="0"/>
          </a:p>
        </p:txBody>
      </p:sp>
      <p:pic>
        <p:nvPicPr>
          <p:cNvPr id="4" name="Image 0" descr="/home/claude/charts/c11_football_field.png">    </p:cNvPr>
          <p:cNvPicPr>
            <a:picLocks noChangeAspect="1"/>
          </p:cNvPicPr>
          <p:nvPr/>
        </p:nvPicPr>
        <p:blipFill>
          <a:blip r:embed="rId1"/>
          <a:stretch>
            <a:fillRect/>
          </a:stretch>
        </p:blipFill>
        <p:spPr>
          <a:xfrm>
            <a:off x="2363724" y="1280160"/>
            <a:ext cx="7461504" cy="3840480"/>
          </a:xfrm>
          <a:prstGeom prst="rect">
            <a:avLst/>
          </a:prstGeom>
        </p:spPr>
      </p:pic>
      <p:sp>
        <p:nvSpPr>
          <p:cNvPr id="5" name="Text 2"/>
          <p:cNvSpPr/>
          <p:nvPr/>
        </p:nvSpPr>
        <p:spPr>
          <a:xfrm>
            <a:off x="548640" y="5257800"/>
            <a:ext cx="11064240" cy="777240"/>
          </a:xfrm>
          <a:prstGeom prst="rect">
            <a:avLst/>
          </a:prstGeom>
          <a:noFill/>
          <a:ln/>
        </p:spPr>
        <p:txBody>
          <a:bodyPr wrap="square" rtlCol="0" anchor="ctr"/>
          <a:lstStyle/>
          <a:p>
            <a:pPr algn="ctr" indent="0" marL="0">
              <a:lnSpc>
                <a:spcPct val="125000"/>
              </a:lnSpc>
              <a:buNone/>
            </a:pPr>
            <a:r>
              <a:rPr lang="en-US" sz="1150" i="1" dirty="0">
                <a:solidFill>
                  <a:srgbClr val="6B7684"/>
                </a:solidFill>
                <a:latin typeface="Arial" pitchFamily="34" charset="0"/>
                <a:ea typeface="Arial" pitchFamily="34" charset="-122"/>
                <a:cs typeface="Arial" pitchFamily="34" charset="-120"/>
              </a:rPr>
              <a:t>Offer of $95.00/share sits within the trading-comparables range but below the precedent-transaction range — consistent with disciplined, rather than promotional, pricing for a scarce, category-leading asset.</a:t>
            </a:r>
            <a:endParaRPr lang="en-US" sz="1150" dirty="0"/>
          </a:p>
        </p:txBody>
      </p:sp>
      <p:sp>
        <p:nvSpPr>
          <p:cNvPr id="6"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7"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7</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Comparable Company Analysis</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4754880"/>
                <a:gridCol w="2130552"/>
                <a:gridCol w="2130552"/>
                <a:gridCol w="2139696"/>
              </a:tblGrid>
              <a:tr h="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Company</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EV / Revenue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EV / EBITDA</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 / 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Electronic Arts</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~5–6x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~15–17x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~24–27x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Take-Two Interactive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~5–7x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~17–20x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~28–32x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Ubisoft Entertainment</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~2–3x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~9–12x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~15–20x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Activision Blizzard (unaffected)</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~4x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~13x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~17x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Peer Median (approx.)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~4–5x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~15x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~24x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r>
              <a:tr h="0">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Implied by Microsoft's Offer</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7.1–7.8x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16.5–18.2x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~25x</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r>
            </a:tbl>
          </a:graphicData>
        </a:graphic>
      </p:graphicFrame>
      <p:sp>
        <p:nvSpPr>
          <p:cNvPr id="5" name="Text 2"/>
          <p:cNvSpPr/>
          <p:nvPr/>
        </p:nvSpPr>
        <p:spPr>
          <a:xfrm>
            <a:off x="502920" y="4846320"/>
            <a:ext cx="11155680" cy="365760"/>
          </a:xfrm>
          <a:prstGeom prst="rect">
            <a:avLst/>
          </a:prstGeom>
          <a:noFill/>
          <a:ln/>
        </p:spPr>
        <p:txBody>
          <a:bodyPr wrap="square" rtlCol="0" anchor="ctr"/>
          <a:lstStyle/>
          <a:p>
            <a:pPr indent="0" marL="0">
              <a:buNone/>
            </a:pPr>
            <a:r>
              <a:rPr lang="en-US" sz="1000" i="1" dirty="0">
                <a:solidFill>
                  <a:srgbClr val="6B7684"/>
                </a:solidFill>
                <a:latin typeface="Arial" pitchFamily="34" charset="0"/>
                <a:ea typeface="Arial" pitchFamily="34" charset="-122"/>
                <a:cs typeface="Arial" pitchFamily="34" charset="-120"/>
              </a:rPr>
              <a:t>Illustrative, approximate multiples for analytical purposes — refresh against live Bloomberg/CapIQ data in a live deal context.</a:t>
            </a:r>
            <a:endParaRPr lang="en-US" sz="1000" dirty="0"/>
          </a:p>
        </p:txBody>
      </p:sp>
      <p:sp>
        <p:nvSpPr>
          <p:cNvPr id="6"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7"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7</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Precedent Transaction Analysis</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737360"/>
                <a:gridCol w="3383280"/>
                <a:gridCol w="3749040"/>
                <a:gridCol w="2286000"/>
              </a:tblGrid>
              <a:tr h="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Date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Acquirer</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Deal Value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Sept. 2020</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Microsoft</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ZeniMax Media (Bethesda)</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$7.5bn</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Jan. 2022</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Take-Two Interactive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Zynga</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$12.7bn</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Jan. 2022</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Sony Interactive Ent.</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Bungie</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$3.6bn</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May 2022</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Embracer Group</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Square Enix Western Studios</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~$0.3bn</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2023</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Savvy Games Group (Saudi PIF)</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Scopely</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Arial" pitchFamily="34" charset="0"/>
                          <a:ea typeface="Arial" pitchFamily="34" charset="-122"/>
                          <a:cs typeface="Arial" pitchFamily="34" charset="-120"/>
                        </a:rPr>
                        <a:t>~$4.9bn</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Jan. 2022</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Microsoft</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Activision Blizzard</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c>
                  <a:txBody>
                    <a:bodyPr/>
                    <a:lstStyle/>
                    <a:p>
                      <a:pPr algn="ctr" indent="0" marL="0">
                        <a:buNone/>
                      </a:pPr>
                      <a:r>
                        <a:rPr lang="en-US" sz="1200" b="1" dirty="0">
                          <a:solidFill>
                            <a:srgbClr val="0A2342"/>
                          </a:solidFill>
                          <a:latin typeface="Arial" pitchFamily="34" charset="0"/>
                          <a:ea typeface="Arial" pitchFamily="34" charset="-122"/>
                          <a:cs typeface="Arial" pitchFamily="34" charset="-120"/>
                        </a:rPr>
                        <a:t>$68.7bn</a:t>
                      </a:r>
                      <a:endParaRPr lang="en-US" sz="1200" dirty="0">
                        <a:latin typeface="Arial" charset="0"/>
                        <a:ea typeface="Arial" charset="0"/>
                        <a:cs typeface="Arial" charset="0"/>
                      </a:endParaRPr>
                    </a:p>
                  </a:txBody>
                  <a:tcPr marL="76200" marR="76200" marT="50800" marB="5080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E8F0FE"/>
                    </a:solidFill>
                  </a:tcPr>
                </a:tc>
              </a:tr>
            </a:tbl>
          </a:graphicData>
        </a:graphic>
      </p:graphicFrame>
      <p:sp>
        <p:nvSpPr>
          <p:cNvPr id="5" name="Text 2"/>
          <p:cNvSpPr/>
          <p:nvPr/>
        </p:nvSpPr>
        <p:spPr>
          <a:xfrm>
            <a:off x="502920" y="4572000"/>
            <a:ext cx="11155680" cy="457200"/>
          </a:xfrm>
          <a:prstGeom prst="rect">
            <a:avLst/>
          </a:prstGeom>
          <a:noFill/>
          <a:ln/>
        </p:spPr>
        <p:txBody>
          <a:bodyPr wrap="square" rtlCol="0" anchor="ctr"/>
          <a:lstStyle/>
          <a:p>
            <a:pPr indent="0" marL="0">
              <a:buNone/>
            </a:pPr>
            <a:r>
              <a:rPr lang="en-US" sz="1150" i="1" dirty="0">
                <a:solidFill>
                  <a:srgbClr val="6B7684"/>
                </a:solidFill>
                <a:latin typeface="Arial" pitchFamily="34" charset="0"/>
                <a:ea typeface="Arial" pitchFamily="34" charset="-122"/>
                <a:cs typeface="Arial" pitchFamily="34" charset="-120"/>
              </a:rPr>
              <a:t>Average EV/EBITDA across comparable recent gaming M&amp;A: ~20x (median ~21x) — Microsoft's implied 16.5–18.2x multiple sat below this average.</a:t>
            </a:r>
            <a:endParaRPr lang="en-US" sz="1150" dirty="0"/>
          </a:p>
        </p:txBody>
      </p:sp>
      <p:sp>
        <p:nvSpPr>
          <p:cNvPr id="6"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7"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8</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Financial Impact</a:t>
            </a:r>
            <a:endParaRPr lang="en-US" sz="2700" dirty="0"/>
          </a:p>
        </p:txBody>
      </p:sp>
      <p:graphicFrame>
        <p:nvGraphicFramePr>
          <p:cNvPr id="4" name="Chart 0" descr=""/>
          <p:cNvGraphicFramePr/>
          <p:nvPr/>
        </p:nvGraphicFramePr>
        <p:xfrm>
          <a:off x="457200" y="1325880"/>
          <a:ext cx="56692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55080" y="1371600"/>
          <a:ext cx="5349240" cy="914400"/>
        </p:xfrm>
        <a:graphic>
          <a:graphicData uri="http://schemas.openxmlformats.org/drawingml/2006/table">
            <a:tbl>
              <a:tblPr/>
              <a:tblGrid>
                <a:gridCol w="1965960"/>
                <a:gridCol w="1188720"/>
                <a:gridCol w="1371600"/>
                <a:gridCol w="82296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FY2024 Actual</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FY2024 Pro Forma*</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Delta</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0A2342"/>
                    </a:solidFill>
                  </a:tcPr>
                </a:tc>
              </a:tr>
              <a:tr h="0">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Revenue ($mn)</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245,122</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247,442</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+2,320</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r h="0">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Net Income ($mn)</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88,136</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88,308</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+172</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3F5F7"/>
                    </a:solidFill>
                  </a:tcPr>
                </a:tc>
              </a:tr>
              <a:tr h="0">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Diluted EPS ($)</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11.80</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11.82</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Arial" pitchFamily="34" charset="0"/>
                          <a:ea typeface="Arial" pitchFamily="34" charset="-122"/>
                          <a:cs typeface="Arial" pitchFamily="34" charset="-120"/>
                        </a:rPr>
                        <a:t>+0.02</a:t>
                      </a:r>
                      <a:endParaRPr lang="en-US" sz="1100" dirty="0">
                        <a:latin typeface="Arial" charset="0"/>
                        <a:ea typeface="Arial" charset="0"/>
                        <a:cs typeface="Arial" charset="0"/>
                      </a:endParaRPr>
                    </a:p>
                  </a:txBody>
                  <a:tcPr marL="91440" marR="91440" marT="45720" marB="45720" anchor="ctr">
                    <a:lnL w="9525" cap="flat" cmpd="sng" algn="ctr">
                      <a:solidFill>
                        <a:srgbClr val="D9DDE3"/>
                      </a:solidFill>
                      <a:prstDash val="solid"/>
                      <a:round/>
                      <a:headEnd type="none" w="med" len="med"/>
                      <a:tailEnd type="none" w="med" len="med"/>
                    </a:lnL>
                    <a:lnR w="9525" cap="flat" cmpd="sng" algn="ctr">
                      <a:solidFill>
                        <a:srgbClr val="D9DDE3"/>
                      </a:solidFill>
                      <a:prstDash val="solid"/>
                      <a:round/>
                      <a:headEnd type="none" w="med" len="med"/>
                      <a:tailEnd type="none" w="med" len="med"/>
                    </a:lnR>
                    <a:lnT w="9525" cap="flat" cmpd="sng" algn="ctr">
                      <a:solidFill>
                        <a:srgbClr val="D9DDE3"/>
                      </a:solidFill>
                      <a:prstDash val="solid"/>
                      <a:round/>
                      <a:headEnd type="none" w="med" len="med"/>
                      <a:tailEnd type="none" w="med" len="med"/>
                    </a:lnT>
                    <a:lnB w="9525" cap="flat" cmpd="sng" algn="ctr">
                      <a:solidFill>
                        <a:srgbClr val="D9DDE3"/>
                      </a:solidFill>
                      <a:prstDash val="solid"/>
                      <a:round/>
                      <a:headEnd type="none" w="med" len="med"/>
                      <a:tailEnd type="none" w="med" len="med"/>
                    </a:lnB>
                    <a:solidFill>
                      <a:srgbClr val="FFFFFF"/>
                    </a:solidFill>
                  </a:tcPr>
                </a:tc>
              </a:tr>
            </a:tbl>
          </a:graphicData>
        </a:graphic>
      </p:graphicFrame>
      <p:sp>
        <p:nvSpPr>
          <p:cNvPr id="6" name="Text 2"/>
          <p:cNvSpPr/>
          <p:nvPr/>
        </p:nvSpPr>
        <p:spPr>
          <a:xfrm>
            <a:off x="6355080" y="2880360"/>
            <a:ext cx="5349240" cy="274320"/>
          </a:xfrm>
          <a:prstGeom prst="rect">
            <a:avLst/>
          </a:prstGeom>
          <a:noFill/>
          <a:ln/>
        </p:spPr>
        <p:txBody>
          <a:bodyPr wrap="square" rtlCol="0" anchor="ctr"/>
          <a:lstStyle/>
          <a:p>
            <a:pPr indent="0" marL="0">
              <a:buNone/>
            </a:pPr>
            <a:r>
              <a:rPr lang="en-US" sz="850" i="1" dirty="0">
                <a:solidFill>
                  <a:srgbClr val="6B7684"/>
                </a:solidFill>
                <a:latin typeface="Arial" pitchFamily="34" charset="0"/>
                <a:ea typeface="Arial" pitchFamily="34" charset="-122"/>
                <a:cs typeface="Arial" pitchFamily="34" charset="-120"/>
              </a:rPr>
              <a:t>*Pro forma as if acquired July 1, 2022. Source: Microsoft FY2024 Form 10-K.</a:t>
            </a:r>
            <a:endParaRPr lang="en-US" sz="850" dirty="0"/>
          </a:p>
        </p:txBody>
      </p:sp>
      <p:sp>
        <p:nvSpPr>
          <p:cNvPr id="7" name="Shape 3"/>
          <p:cNvSpPr/>
          <p:nvPr/>
        </p:nvSpPr>
        <p:spPr>
          <a:xfrm>
            <a:off x="6355080" y="3337560"/>
            <a:ext cx="5349240" cy="1280160"/>
          </a:xfrm>
          <a:prstGeom prst="roundRect">
            <a:avLst>
              <a:gd name="adj" fmla="val 4286"/>
            </a:avLst>
          </a:prstGeom>
          <a:solidFill>
            <a:srgbClr val="0A2342"/>
          </a:solidFill>
          <a:ln/>
          <a:effectLst>
            <a:outerShdw sx="100000" sy="100000" kx="0" ky="0" algn="bl" rotWithShape="0" blurRad="76200" dist="25400" dir="5400000">
              <a:srgbClr val="8C97A6">
                <a:alpha val="25000"/>
              </a:srgbClr>
            </a:outerShdw>
          </a:effectLst>
        </p:spPr>
      </p:sp>
      <p:sp>
        <p:nvSpPr>
          <p:cNvPr id="8" name="Text 4"/>
          <p:cNvSpPr/>
          <p:nvPr/>
        </p:nvSpPr>
        <p:spPr>
          <a:xfrm>
            <a:off x="6583680" y="3474720"/>
            <a:ext cx="4892040" cy="1005840"/>
          </a:xfrm>
          <a:prstGeom prst="rect">
            <a:avLst/>
          </a:prstGeom>
          <a:noFill/>
          <a:ln/>
        </p:spPr>
        <p:txBody>
          <a:bodyPr wrap="square" rtlCol="0" anchor="ctr"/>
          <a:lstStyle/>
          <a:p>
            <a:pPr indent="0" marL="0">
              <a:buNone/>
            </a:pPr>
            <a:r>
              <a:rPr lang="en-US" sz="1100" i="1" dirty="0">
                <a:solidFill>
                  <a:srgbClr val="FFFFFF"/>
                </a:solidFill>
                <a:latin typeface="Arial" pitchFamily="34" charset="0"/>
                <a:ea typeface="Arial" pitchFamily="34" charset="-122"/>
                <a:cs typeface="Arial" pitchFamily="34" charset="-120"/>
              </a:rPr>
              <a:t>Near-neutral EPS impact through FY2024 — purchase-accounting amortization and integration costs have largely offset underlying revenue growth to date.</a:t>
            </a:r>
            <a:endParaRPr lang="en-US" sz="1100" dirty="0"/>
          </a:p>
        </p:txBody>
      </p:sp>
      <p:sp>
        <p:nvSpPr>
          <p:cNvPr id="9" name="Text 5"/>
          <p:cNvSpPr/>
          <p:nvPr/>
        </p:nvSpPr>
        <p:spPr>
          <a:xfrm>
            <a:off x="457200" y="4892040"/>
            <a:ext cx="11155680" cy="457200"/>
          </a:xfrm>
          <a:prstGeom prst="rect">
            <a:avLst/>
          </a:prstGeom>
          <a:noFill/>
          <a:ln/>
        </p:spPr>
        <p:txBody>
          <a:bodyPr wrap="square" rtlCol="0" anchor="ctr"/>
          <a:lstStyle/>
          <a:p>
            <a:pPr indent="0" marL="0">
              <a:buNone/>
            </a:pPr>
            <a:r>
              <a:rPr lang="en-US" sz="1150" i="1" dirty="0">
                <a:solidFill>
                  <a:srgbClr val="6B7684"/>
                </a:solidFill>
                <a:latin typeface="Arial" pitchFamily="34" charset="0"/>
                <a:ea typeface="Arial" pitchFamily="34" charset="-122"/>
                <a:cs typeface="Arial" pitchFamily="34" charset="-120"/>
              </a:rPr>
              <a:t>Purchase Price Allocation: $51.0bn goodwill  •  $22.0bn intangibles  •  $75.4bn total consideration at closing</a:t>
            </a:r>
            <a:endParaRPr lang="en-US" sz="1150" dirty="0"/>
          </a:p>
        </p:txBody>
      </p:sp>
      <p:sp>
        <p:nvSpPr>
          <p:cNvPr id="10" name="Text 6"/>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11" name="Text 7"/>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9</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Regulatory Review — Deal Timeline</a:t>
            </a:r>
            <a:endParaRPr lang="en-US" sz="2700" dirty="0"/>
          </a:p>
        </p:txBody>
      </p:sp>
      <p:pic>
        <p:nvPicPr>
          <p:cNvPr id="4" name="Image 0" descr="/home/claude/charts/c09_deal_timeline.png">    </p:cNvPr>
          <p:cNvPicPr>
            <a:picLocks noChangeAspect="1"/>
          </p:cNvPicPr>
          <p:nvPr/>
        </p:nvPicPr>
        <p:blipFill>
          <a:blip r:embed="rId1"/>
          <a:stretch>
            <a:fillRect/>
          </a:stretch>
        </p:blipFill>
        <p:spPr>
          <a:xfrm>
            <a:off x="2715768" y="1463040"/>
            <a:ext cx="6757416" cy="3108960"/>
          </a:xfrm>
          <a:prstGeom prst="rect">
            <a:avLst/>
          </a:prstGeom>
        </p:spPr>
      </p:pic>
      <p:sp>
        <p:nvSpPr>
          <p:cNvPr id="5" name="Text 2"/>
          <p:cNvSpPr/>
          <p:nvPr/>
        </p:nvSpPr>
        <p:spPr>
          <a:xfrm>
            <a:off x="502920" y="4709160"/>
            <a:ext cx="11155680" cy="1005840"/>
          </a:xfrm>
          <a:prstGeom prst="rect">
            <a:avLst/>
          </a:prstGeom>
          <a:noFill/>
          <a:ln/>
        </p:spPr>
        <p:txBody>
          <a:bodyPr wrap="square" rtlCol="0" anchor="ctr"/>
          <a:lstStyle/>
          <a:p>
            <a:pPr indent="0" marL="0">
              <a:lnSpc>
                <a:spcPct val="130000"/>
              </a:lnSpc>
              <a:buNone/>
            </a:pPr>
            <a:r>
              <a:rPr lang="en-US" sz="1200" i="1" dirty="0">
                <a:solidFill>
                  <a:srgbClr val="6B7684"/>
                </a:solidFill>
                <a:latin typeface="Arial" pitchFamily="34" charset="0"/>
                <a:ea typeface="Arial" pitchFamily="34" charset="-122"/>
                <a:cs typeface="Arial" pitchFamily="34" charset="-120"/>
              </a:rPr>
              <a:t>Three regulators, three outcomes on similar facts: FTC litigation loss for the agency (deal cleared); CMA outright prohibition, later reversed via a structural Ubisoft divestiture; EC conditional clearance via a behavioral licensing remedy.</a:t>
            </a:r>
            <a:endParaRPr lang="en-US" sz="1200" dirty="0"/>
          </a:p>
        </p:txBody>
      </p:sp>
      <p:sp>
        <p:nvSpPr>
          <p:cNvPr id="6"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7"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10</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Risk Assessment</a:t>
            </a:r>
            <a:endParaRPr lang="en-US" sz="2700" dirty="0"/>
          </a:p>
        </p:txBody>
      </p:sp>
      <p:pic>
        <p:nvPicPr>
          <p:cNvPr id="4" name="Image 0" descr="/home/claude/charts/c13_risk_matrix.png">    </p:cNvPr>
          <p:cNvPicPr>
            <a:picLocks noChangeAspect="1"/>
          </p:cNvPicPr>
          <p:nvPr/>
        </p:nvPicPr>
        <p:blipFill>
          <a:blip r:embed="rId1"/>
          <a:stretch>
            <a:fillRect/>
          </a:stretch>
        </p:blipFill>
        <p:spPr>
          <a:xfrm>
            <a:off x="3214116" y="1188720"/>
            <a:ext cx="5760720" cy="4937760"/>
          </a:xfrm>
          <a:prstGeom prst="rect">
            <a:avLst/>
          </a:prstGeom>
        </p:spPr>
      </p:pic>
      <p:sp>
        <p:nvSpPr>
          <p:cNvPr id="5" name="Text 2"/>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6" name="Text 3"/>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10</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SWOT Analysis — Combined Entity</a:t>
            </a:r>
            <a:endParaRPr lang="en-US" sz="2700" dirty="0"/>
          </a:p>
        </p:txBody>
      </p:sp>
      <p:sp>
        <p:nvSpPr>
          <p:cNvPr id="4" name="Shape 2"/>
          <p:cNvSpPr/>
          <p:nvPr/>
        </p:nvSpPr>
        <p:spPr>
          <a:xfrm>
            <a:off x="502920" y="1371600"/>
            <a:ext cx="5440680" cy="2148840"/>
          </a:xfrm>
          <a:prstGeom prst="roundRect">
            <a:avLst>
              <a:gd name="adj" fmla="val 2553"/>
            </a:avLst>
          </a:prstGeom>
          <a:solidFill>
            <a:srgbClr val="F3F5F7"/>
          </a:solidFill>
          <a:ln/>
          <a:effectLst>
            <a:outerShdw sx="100000" sy="100000" kx="0" ky="0" algn="bl" rotWithShape="0" blurRad="76200" dist="25400" dir="5400000">
              <a:srgbClr val="8C97A6">
                <a:alpha val="25000"/>
              </a:srgbClr>
            </a:outerShdw>
          </a:effectLst>
        </p:spPr>
      </p:sp>
      <p:sp>
        <p:nvSpPr>
          <p:cNvPr id="5" name="Shape 3"/>
          <p:cNvSpPr/>
          <p:nvPr/>
        </p:nvSpPr>
        <p:spPr>
          <a:xfrm>
            <a:off x="502920" y="1371600"/>
            <a:ext cx="5440680" cy="457200"/>
          </a:xfrm>
          <a:prstGeom prst="rect">
            <a:avLst/>
          </a:prstGeom>
          <a:solidFill>
            <a:srgbClr val="0A2342"/>
          </a:solidFill>
          <a:ln/>
        </p:spPr>
      </p:sp>
      <p:sp>
        <p:nvSpPr>
          <p:cNvPr id="6" name="Text 4"/>
          <p:cNvSpPr/>
          <p:nvPr/>
        </p:nvSpPr>
        <p:spPr>
          <a:xfrm>
            <a:off x="502920" y="1371600"/>
            <a:ext cx="544068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STRENGTHS</a:t>
            </a:r>
            <a:endParaRPr lang="en-US" sz="1300" dirty="0"/>
          </a:p>
        </p:txBody>
      </p:sp>
      <p:sp>
        <p:nvSpPr>
          <p:cNvPr id="7" name="Text 5"/>
          <p:cNvSpPr/>
          <p:nvPr/>
        </p:nvSpPr>
        <p:spPr>
          <a:xfrm>
            <a:off x="731520" y="1938528"/>
            <a:ext cx="5029200" cy="1508760"/>
          </a:xfrm>
          <a:prstGeom prst="rect">
            <a:avLst/>
          </a:prstGeom>
          <a:noFill/>
          <a:ln/>
        </p:spPr>
        <p:txBody>
          <a:bodyPr wrap="square" rtlCol="0" anchor="t"/>
          <a:lstStyle/>
          <a:p>
            <a:pPr indent="0" marL="0">
              <a:lnSpc>
                <a:spcPct val="125000"/>
              </a:lnSpc>
              <a:buNone/>
            </a:pPr>
            <a:r>
              <a:rPr lang="en-US" sz="1050" dirty="0">
                <a:solidFill>
                  <a:srgbClr val="1A1A1A"/>
                </a:solidFill>
                <a:latin typeface="Arial" pitchFamily="34" charset="0"/>
                <a:ea typeface="Arial" pitchFamily="34" charset="-122"/>
                <a:cs typeface="Arial" pitchFamily="34" charset="-120"/>
              </a:rPr>
              <a:t>• Unmatched first-party franchise breadth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Cross-platform distribution (Windows, Xbox, Azure)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Exceptional balance sheet strength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Proven subscription go-to-market capability
</a:t>
            </a:r>
            <a:endParaRPr lang="en-US" sz="1050" dirty="0"/>
          </a:p>
        </p:txBody>
      </p:sp>
      <p:sp>
        <p:nvSpPr>
          <p:cNvPr id="8" name="Shape 6"/>
          <p:cNvSpPr/>
          <p:nvPr/>
        </p:nvSpPr>
        <p:spPr>
          <a:xfrm>
            <a:off x="6217920" y="1371600"/>
            <a:ext cx="5440680" cy="2148840"/>
          </a:xfrm>
          <a:prstGeom prst="roundRect">
            <a:avLst>
              <a:gd name="adj" fmla="val 2553"/>
            </a:avLst>
          </a:prstGeom>
          <a:solidFill>
            <a:srgbClr val="F3F5F7"/>
          </a:solidFill>
          <a:ln/>
          <a:effectLst>
            <a:outerShdw sx="100000" sy="100000" kx="0" ky="0" algn="bl" rotWithShape="0" blurRad="76200" dist="25400" dir="5400000">
              <a:srgbClr val="8C97A6">
                <a:alpha val="25000"/>
              </a:srgbClr>
            </a:outerShdw>
          </a:effectLst>
        </p:spPr>
      </p:sp>
      <p:sp>
        <p:nvSpPr>
          <p:cNvPr id="9" name="Shape 7"/>
          <p:cNvSpPr/>
          <p:nvPr/>
        </p:nvSpPr>
        <p:spPr>
          <a:xfrm>
            <a:off x="6217920" y="1371600"/>
            <a:ext cx="5440680" cy="457200"/>
          </a:xfrm>
          <a:prstGeom prst="rect">
            <a:avLst/>
          </a:prstGeom>
          <a:solidFill>
            <a:srgbClr val="5B6472"/>
          </a:solidFill>
          <a:ln/>
        </p:spPr>
      </p:sp>
      <p:sp>
        <p:nvSpPr>
          <p:cNvPr id="10" name="Text 8"/>
          <p:cNvSpPr/>
          <p:nvPr/>
        </p:nvSpPr>
        <p:spPr>
          <a:xfrm>
            <a:off x="6217920" y="1371600"/>
            <a:ext cx="544068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WEAKNESSES</a:t>
            </a:r>
            <a:endParaRPr lang="en-US" sz="1300" dirty="0"/>
          </a:p>
        </p:txBody>
      </p:sp>
      <p:sp>
        <p:nvSpPr>
          <p:cNvPr id="11" name="Text 9"/>
          <p:cNvSpPr/>
          <p:nvPr/>
        </p:nvSpPr>
        <p:spPr>
          <a:xfrm>
            <a:off x="6446520" y="1938528"/>
            <a:ext cx="5029200" cy="1508760"/>
          </a:xfrm>
          <a:prstGeom prst="rect">
            <a:avLst/>
          </a:prstGeom>
          <a:noFill/>
          <a:ln/>
        </p:spPr>
        <p:txBody>
          <a:bodyPr wrap="square" rtlCol="0" anchor="t"/>
          <a:lstStyle/>
          <a:p>
            <a:pPr indent="0" marL="0">
              <a:lnSpc>
                <a:spcPct val="125000"/>
              </a:lnSpc>
              <a:buNone/>
            </a:pPr>
            <a:r>
              <a:rPr lang="en-US" sz="1050" dirty="0">
                <a:solidFill>
                  <a:srgbClr val="1A1A1A"/>
                </a:solidFill>
                <a:latin typeface="Arial" pitchFamily="34" charset="0"/>
                <a:ea typeface="Arial" pitchFamily="34" charset="-122"/>
                <a:cs typeface="Arial" pitchFamily="34" charset="-120"/>
              </a:rPr>
              <a:t>• Persistent integration disruption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Console hardware sub-scale vs. PlayStation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Reputational overhang from price increases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Slower mobile cross-portfolio synergy realization
</a:t>
            </a:r>
            <a:endParaRPr lang="en-US" sz="1050" dirty="0"/>
          </a:p>
        </p:txBody>
      </p:sp>
      <p:sp>
        <p:nvSpPr>
          <p:cNvPr id="12" name="Shape 10"/>
          <p:cNvSpPr/>
          <p:nvPr/>
        </p:nvSpPr>
        <p:spPr>
          <a:xfrm>
            <a:off x="502920" y="3703320"/>
            <a:ext cx="5440680" cy="2148840"/>
          </a:xfrm>
          <a:prstGeom prst="roundRect">
            <a:avLst>
              <a:gd name="adj" fmla="val 2553"/>
            </a:avLst>
          </a:prstGeom>
          <a:solidFill>
            <a:srgbClr val="F3F5F7"/>
          </a:solidFill>
          <a:ln/>
          <a:effectLst>
            <a:outerShdw sx="100000" sy="100000" kx="0" ky="0" algn="bl" rotWithShape="0" blurRad="76200" dist="25400" dir="5400000">
              <a:srgbClr val="8C97A6">
                <a:alpha val="25000"/>
              </a:srgbClr>
            </a:outerShdw>
          </a:effectLst>
        </p:spPr>
      </p:sp>
      <p:sp>
        <p:nvSpPr>
          <p:cNvPr id="13" name="Shape 11"/>
          <p:cNvSpPr/>
          <p:nvPr/>
        </p:nvSpPr>
        <p:spPr>
          <a:xfrm>
            <a:off x="502920" y="3703320"/>
            <a:ext cx="5440680" cy="457200"/>
          </a:xfrm>
          <a:prstGeom prst="rect">
            <a:avLst/>
          </a:prstGeom>
          <a:solidFill>
            <a:srgbClr val="2F80ED"/>
          </a:solidFill>
          <a:ln/>
        </p:spPr>
      </p:sp>
      <p:sp>
        <p:nvSpPr>
          <p:cNvPr id="14" name="Text 12"/>
          <p:cNvSpPr/>
          <p:nvPr/>
        </p:nvSpPr>
        <p:spPr>
          <a:xfrm>
            <a:off x="502920" y="3703320"/>
            <a:ext cx="544068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OPPORTUNITIES</a:t>
            </a:r>
            <a:endParaRPr lang="en-US" sz="1300" dirty="0"/>
          </a:p>
        </p:txBody>
      </p:sp>
      <p:sp>
        <p:nvSpPr>
          <p:cNvPr id="15" name="Text 13"/>
          <p:cNvSpPr/>
          <p:nvPr/>
        </p:nvSpPr>
        <p:spPr>
          <a:xfrm>
            <a:off x="731520" y="4270248"/>
            <a:ext cx="5029200" cy="1508760"/>
          </a:xfrm>
          <a:prstGeom prst="rect">
            <a:avLst/>
          </a:prstGeom>
          <a:noFill/>
          <a:ln/>
        </p:spPr>
        <p:txBody>
          <a:bodyPr wrap="square" rtlCol="0" anchor="t"/>
          <a:lstStyle/>
          <a:p>
            <a:pPr indent="0" marL="0">
              <a:lnSpc>
                <a:spcPct val="125000"/>
              </a:lnSpc>
              <a:buNone/>
            </a:pPr>
            <a:r>
              <a:rPr lang="en-US" sz="1050" dirty="0">
                <a:solidFill>
                  <a:srgbClr val="1A1A1A"/>
                </a:solidFill>
                <a:latin typeface="Arial" pitchFamily="34" charset="0"/>
                <a:ea typeface="Arial" pitchFamily="34" charset="-122"/>
                <a:cs typeface="Arial" pitchFamily="34" charset="-120"/>
              </a:rPr>
              <a:t>• Further Xbox Cloud Gaming scaling via Azure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International Game Pass expansion (King footprint)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Cross-IP mobile/transmedia extensions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AI-driven development efficiency gains
</a:t>
            </a:r>
            <a:endParaRPr lang="en-US" sz="1050" dirty="0"/>
          </a:p>
        </p:txBody>
      </p:sp>
      <p:sp>
        <p:nvSpPr>
          <p:cNvPr id="16" name="Shape 14"/>
          <p:cNvSpPr/>
          <p:nvPr/>
        </p:nvSpPr>
        <p:spPr>
          <a:xfrm>
            <a:off x="6217920" y="3703320"/>
            <a:ext cx="5440680" cy="2148840"/>
          </a:xfrm>
          <a:prstGeom prst="roundRect">
            <a:avLst>
              <a:gd name="adj" fmla="val 2553"/>
            </a:avLst>
          </a:prstGeom>
          <a:solidFill>
            <a:srgbClr val="F3F5F7"/>
          </a:solidFill>
          <a:ln/>
          <a:effectLst>
            <a:outerShdw sx="100000" sy="100000" kx="0" ky="0" algn="bl" rotWithShape="0" blurRad="76200" dist="25400" dir="5400000">
              <a:srgbClr val="8C97A6">
                <a:alpha val="25000"/>
              </a:srgbClr>
            </a:outerShdw>
          </a:effectLst>
        </p:spPr>
      </p:sp>
      <p:sp>
        <p:nvSpPr>
          <p:cNvPr id="17" name="Shape 15"/>
          <p:cNvSpPr/>
          <p:nvPr/>
        </p:nvSpPr>
        <p:spPr>
          <a:xfrm>
            <a:off x="6217920" y="3703320"/>
            <a:ext cx="5440680" cy="457200"/>
          </a:xfrm>
          <a:prstGeom prst="rect">
            <a:avLst/>
          </a:prstGeom>
          <a:solidFill>
            <a:srgbClr val="C0392B"/>
          </a:solidFill>
          <a:ln/>
        </p:spPr>
      </p:sp>
      <p:sp>
        <p:nvSpPr>
          <p:cNvPr id="18" name="Text 16"/>
          <p:cNvSpPr/>
          <p:nvPr/>
        </p:nvSpPr>
        <p:spPr>
          <a:xfrm>
            <a:off x="6217920" y="3703320"/>
            <a:ext cx="544068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THREATS</a:t>
            </a:r>
            <a:endParaRPr lang="en-US" sz="1300" dirty="0"/>
          </a:p>
        </p:txBody>
      </p:sp>
      <p:sp>
        <p:nvSpPr>
          <p:cNvPr id="19" name="Text 17"/>
          <p:cNvSpPr/>
          <p:nvPr/>
        </p:nvSpPr>
        <p:spPr>
          <a:xfrm>
            <a:off x="6446520" y="4270248"/>
            <a:ext cx="5029200" cy="1508760"/>
          </a:xfrm>
          <a:prstGeom prst="rect">
            <a:avLst/>
          </a:prstGeom>
          <a:noFill/>
          <a:ln/>
        </p:spPr>
        <p:txBody>
          <a:bodyPr wrap="square" rtlCol="0" anchor="t"/>
          <a:lstStyle/>
          <a:p>
            <a:pPr indent="0" marL="0">
              <a:lnSpc>
                <a:spcPct val="125000"/>
              </a:lnSpc>
              <a:buNone/>
            </a:pPr>
            <a:r>
              <a:rPr lang="en-US" sz="1050" dirty="0">
                <a:solidFill>
                  <a:srgbClr val="1A1A1A"/>
                </a:solidFill>
                <a:latin typeface="Arial" pitchFamily="34" charset="0"/>
                <a:ea typeface="Arial" pitchFamily="34" charset="-122"/>
                <a:cs typeface="Arial" pitchFamily="34" charset="-120"/>
              </a:rPr>
              <a:t>• Continued antitrust &amp; political scrutiny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Game Pass subscriber attrition risk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Competitive response (Sony, Tencent/NetEase)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 Capex reallocation toward AI infrastructure
</a:t>
            </a:r>
            <a:endParaRPr lang="en-US" sz="1050" dirty="0"/>
          </a:p>
        </p:txBody>
      </p:sp>
      <p:sp>
        <p:nvSpPr>
          <p:cNvPr id="20" name="Text 18"/>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21" name="Text 19"/>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11</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Market Reaction</a:t>
            </a:r>
            <a:endParaRPr lang="en-US" sz="2700" dirty="0"/>
          </a:p>
        </p:txBody>
      </p:sp>
      <p:graphicFrame>
        <p:nvGraphicFramePr>
          <p:cNvPr id="4" name="Chart 0" descr=""/>
          <p:cNvGraphicFramePr/>
          <p:nvPr/>
        </p:nvGraphicFramePr>
        <p:xfrm>
          <a:off x="457200" y="1325880"/>
          <a:ext cx="7863840" cy="4023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49640" y="1325880"/>
            <a:ext cx="3154680" cy="4023360"/>
          </a:xfrm>
          <a:prstGeom prst="roundRect">
            <a:avLst>
              <a:gd name="adj" fmla="val 1739"/>
            </a:avLst>
          </a:prstGeom>
          <a:solidFill>
            <a:srgbClr val="F3F5F7"/>
          </a:solidFill>
          <a:ln/>
          <a:effectLst>
            <a:outerShdw sx="100000" sy="100000" kx="0" ky="0" algn="bl" rotWithShape="0" blurRad="76200" dist="25400" dir="5400000">
              <a:srgbClr val="8C97A6">
                <a:alpha val="25000"/>
              </a:srgbClr>
            </a:outerShdw>
          </a:effectLst>
        </p:spPr>
      </p:sp>
      <p:sp>
        <p:nvSpPr>
          <p:cNvPr id="6" name="Text 3"/>
          <p:cNvSpPr/>
          <p:nvPr/>
        </p:nvSpPr>
        <p:spPr>
          <a:xfrm>
            <a:off x="8778240" y="1508760"/>
            <a:ext cx="2697480" cy="3657600"/>
          </a:xfrm>
          <a:prstGeom prst="rect">
            <a:avLst/>
          </a:prstGeom>
          <a:noFill/>
          <a:ln/>
        </p:spPr>
        <p:txBody>
          <a:bodyPr wrap="square" rtlCol="0" anchor="t"/>
          <a:lstStyle/>
          <a:p>
            <a:pPr indent="0" marL="0">
              <a:lnSpc>
                <a:spcPct val="125000"/>
              </a:lnSpc>
              <a:buNone/>
            </a:pPr>
            <a:r>
              <a:rPr lang="en-US" sz="1200" b="1" dirty="0">
                <a:solidFill>
                  <a:srgbClr val="0A2342"/>
                </a:solidFill>
                <a:latin typeface="Arial" pitchFamily="34" charset="0"/>
                <a:ea typeface="Arial" pitchFamily="34" charset="-122"/>
                <a:cs typeface="Arial" pitchFamily="34" charset="-120"/>
              </a:rPr>
              <a:t>Jan. 18, 2022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ATVI +26% on announcement; still traded ~14% below the $95 offer, pricing in deal-completion risk.
</a:t>
            </a:r>
            <a:pPr indent="0" marL="0">
              <a:lnSpc>
                <a:spcPct val="125000"/>
              </a:lnSpc>
              <a:buNone/>
            </a:pPr>
            <a:r>
              <a:rPr lang="en-US" sz="1200" b="1" dirty="0">
                <a:solidFill>
                  <a:srgbClr val="0A2342"/>
                </a:solidFill>
                <a:latin typeface="Arial" pitchFamily="34" charset="0"/>
                <a:ea typeface="Arial" pitchFamily="34" charset="-122"/>
                <a:cs typeface="Arial" pitchFamily="34" charset="-120"/>
              </a:rPr>
              <a:t>Throughout 2022–23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MSFT largely unaffected — the deal was ~3% of Microsoft's market cap. ATVI traded as a merger-arb security, moving with regulatory news.
</a:t>
            </a:r>
            <a:pPr indent="0" marL="0">
              <a:lnSpc>
                <a:spcPct val="125000"/>
              </a:lnSpc>
              <a:buNone/>
            </a:pPr>
            <a:r>
              <a:rPr lang="en-US" sz="1200" b="1" dirty="0">
                <a:solidFill>
                  <a:srgbClr val="0A2342"/>
                </a:solidFill>
                <a:latin typeface="Arial" pitchFamily="34" charset="0"/>
                <a:ea typeface="Arial" pitchFamily="34" charset="-122"/>
                <a:cs typeface="Arial" pitchFamily="34" charset="-120"/>
              </a:rPr>
              <a:t>Oct. 2023
</a:t>
            </a:r>
            <a:pPr indent="0" marL="0">
              <a:lnSpc>
                <a:spcPct val="125000"/>
              </a:lnSpc>
              <a:buNone/>
            </a:pPr>
            <a:r>
              <a:rPr lang="en-US" sz="1050" dirty="0">
                <a:solidFill>
                  <a:srgbClr val="1A1A1A"/>
                </a:solidFill>
                <a:latin typeface="Arial" pitchFamily="34" charset="0"/>
                <a:ea typeface="Arial" pitchFamily="34" charset="-122"/>
                <a:cs typeface="Arial" pitchFamily="34" charset="-120"/>
              </a:rPr>
              <a:t>ATVI converges toward $95 as closing certainty increases.</a:t>
            </a:r>
            <a:endParaRPr lang="en-US" sz="1200" dirty="0"/>
          </a:p>
        </p:txBody>
      </p:sp>
      <p:sp>
        <p:nvSpPr>
          <p:cNvPr id="7" name="Text 4"/>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8" name="Text 5"/>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SECTION 12</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Post-Acquisition Performance</a:t>
            </a:r>
            <a:endParaRPr lang="en-US" sz="2700" dirty="0"/>
          </a:p>
        </p:txBody>
      </p:sp>
      <p:sp>
        <p:nvSpPr>
          <p:cNvPr id="4" name="Shape 2"/>
          <p:cNvSpPr/>
          <p:nvPr/>
        </p:nvSpPr>
        <p:spPr>
          <a:xfrm>
            <a:off x="502920" y="1371600"/>
            <a:ext cx="5440680" cy="4160520"/>
          </a:xfrm>
          <a:prstGeom prst="roundRect">
            <a:avLst>
              <a:gd name="adj" fmla="val 1319"/>
            </a:avLst>
          </a:prstGeom>
          <a:solidFill>
            <a:srgbClr val="F3F5F7"/>
          </a:solidFill>
          <a:ln/>
          <a:effectLst>
            <a:outerShdw sx="100000" sy="100000" kx="0" ky="0" algn="bl" rotWithShape="0" blurRad="76200" dist="25400" dir="5400000">
              <a:srgbClr val="8C97A6">
                <a:alpha val="25000"/>
              </a:srgbClr>
            </a:outerShdw>
          </a:effectLst>
        </p:spPr>
      </p:sp>
      <p:sp>
        <p:nvSpPr>
          <p:cNvPr id="5" name="Shape 3"/>
          <p:cNvSpPr/>
          <p:nvPr/>
        </p:nvSpPr>
        <p:spPr>
          <a:xfrm>
            <a:off x="502920" y="1371600"/>
            <a:ext cx="5440680" cy="502920"/>
          </a:xfrm>
          <a:prstGeom prst="rect">
            <a:avLst/>
          </a:prstGeom>
          <a:solidFill>
            <a:srgbClr val="0A2342"/>
          </a:solidFill>
          <a:ln/>
        </p:spPr>
      </p:sp>
      <p:sp>
        <p:nvSpPr>
          <p:cNvPr id="6" name="Text 4"/>
          <p:cNvSpPr/>
          <p:nvPr/>
        </p:nvSpPr>
        <p:spPr>
          <a:xfrm>
            <a:off x="502920" y="1371600"/>
            <a:ext cx="544068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Strategic Wins</a:t>
            </a:r>
            <a:endParaRPr lang="en-US" sz="1400" dirty="0"/>
          </a:p>
        </p:txBody>
      </p:sp>
      <p:sp>
        <p:nvSpPr>
          <p:cNvPr id="7" name="Text 5"/>
          <p:cNvSpPr/>
          <p:nvPr/>
        </p:nvSpPr>
        <p:spPr>
          <a:xfrm>
            <a:off x="777240" y="2057400"/>
            <a:ext cx="4892040" cy="3291840"/>
          </a:xfrm>
          <a:prstGeom prst="rect">
            <a:avLst/>
          </a:prstGeom>
          <a:noFill/>
          <a:ln/>
        </p:spPr>
        <p:txBody>
          <a:bodyPr wrap="square" rtlCol="0" anchor="t"/>
          <a:lstStyle/>
          <a:p>
            <a:pPr indent="0" marL="0">
              <a:lnSpc>
                <a:spcPct val="130000"/>
              </a:lnSpc>
              <a:buNone/>
            </a:pPr>
            <a:r>
              <a:rPr lang="en-US" sz="1150" dirty="0">
                <a:solidFill>
                  <a:srgbClr val="1A1A1A"/>
                </a:solidFill>
                <a:latin typeface="Arial" pitchFamily="34" charset="0"/>
                <a:ea typeface="Arial" pitchFamily="34" charset="-122"/>
                <a:cs typeface="Arial" pitchFamily="34" charset="-120"/>
              </a:rPr>
              <a:t>• Call of Duty: Black Ops 6 (Oct. 2024) — largest franchise launch on record; unit sales on PS5/Steam +60% YoY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Gaming segment revenue: $21.5bn (FY24) → $23.5bn (FY25)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No goodwill/intangible impairment recognized to date
</a:t>
            </a:r>
            <a:endParaRPr lang="en-US" sz="1150" dirty="0"/>
          </a:p>
        </p:txBody>
      </p:sp>
      <p:sp>
        <p:nvSpPr>
          <p:cNvPr id="8" name="Shape 6"/>
          <p:cNvSpPr/>
          <p:nvPr/>
        </p:nvSpPr>
        <p:spPr>
          <a:xfrm>
            <a:off x="6217920" y="1371600"/>
            <a:ext cx="5440680" cy="4160520"/>
          </a:xfrm>
          <a:prstGeom prst="roundRect">
            <a:avLst>
              <a:gd name="adj" fmla="val 1319"/>
            </a:avLst>
          </a:prstGeom>
          <a:solidFill>
            <a:srgbClr val="F3F5F7"/>
          </a:solidFill>
          <a:ln/>
          <a:effectLst>
            <a:outerShdw sx="100000" sy="100000" kx="0" ky="0" algn="bl" rotWithShape="0" blurRad="76200" dist="25400" dir="5400000">
              <a:srgbClr val="8C97A6">
                <a:alpha val="25000"/>
              </a:srgbClr>
            </a:outerShdw>
          </a:effectLst>
        </p:spPr>
      </p:sp>
      <p:sp>
        <p:nvSpPr>
          <p:cNvPr id="9" name="Shape 7"/>
          <p:cNvSpPr/>
          <p:nvPr/>
        </p:nvSpPr>
        <p:spPr>
          <a:xfrm>
            <a:off x="6217920" y="1371600"/>
            <a:ext cx="5440680" cy="502920"/>
          </a:xfrm>
          <a:prstGeom prst="rect">
            <a:avLst/>
          </a:prstGeom>
          <a:solidFill>
            <a:srgbClr val="C0392B"/>
          </a:solidFill>
          <a:ln/>
        </p:spPr>
      </p:sp>
      <p:sp>
        <p:nvSpPr>
          <p:cNvPr id="10" name="Text 8"/>
          <p:cNvSpPr/>
          <p:nvPr/>
        </p:nvSpPr>
        <p:spPr>
          <a:xfrm>
            <a:off x="6217920" y="1371600"/>
            <a:ext cx="5440680" cy="5029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Remaining Challenges</a:t>
            </a:r>
            <a:endParaRPr lang="en-US" sz="1400" dirty="0"/>
          </a:p>
        </p:txBody>
      </p:sp>
      <p:sp>
        <p:nvSpPr>
          <p:cNvPr id="11" name="Text 9"/>
          <p:cNvSpPr/>
          <p:nvPr/>
        </p:nvSpPr>
        <p:spPr>
          <a:xfrm>
            <a:off x="6492240" y="2057400"/>
            <a:ext cx="4892040" cy="3291840"/>
          </a:xfrm>
          <a:prstGeom prst="rect">
            <a:avLst/>
          </a:prstGeom>
          <a:noFill/>
          <a:ln/>
        </p:spPr>
        <p:txBody>
          <a:bodyPr wrap="square" rtlCol="0" anchor="t"/>
          <a:lstStyle/>
          <a:p>
            <a:pPr indent="0" marL="0">
              <a:lnSpc>
                <a:spcPct val="130000"/>
              </a:lnSpc>
              <a:buNone/>
            </a:pPr>
            <a:r>
              <a:rPr lang="en-US" sz="1150" dirty="0">
                <a:solidFill>
                  <a:srgbClr val="1A1A1A"/>
                </a:solidFill>
                <a:latin typeface="Arial" pitchFamily="34" charset="0"/>
                <a:ea typeface="Arial" pitchFamily="34" charset="-122"/>
                <a:cs typeface="Arial" pitchFamily="34" charset="-120"/>
              </a:rPr>
              <a:t>• Game Pass subscribers last disclosed at ~34mn (Feb. 2024) — no update since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Multiple layoff rounds (Jan. '24, Sept. '24, Jul. '25) and 2 studio closures
</a:t>
            </a:r>
            <a:pPr indent="0" marL="0">
              <a:lnSpc>
                <a:spcPct val="130000"/>
              </a:lnSpc>
              <a:buNone/>
            </a:pPr>
            <a:r>
              <a:rPr lang="en-US" sz="1150" dirty="0">
                <a:solidFill>
                  <a:srgbClr val="1A1A1A"/>
                </a:solidFill>
                <a:latin typeface="Arial" pitchFamily="34" charset="0"/>
                <a:ea typeface="Arial" pitchFamily="34" charset="-122"/>
                <a:cs typeface="Arial" pitchFamily="34" charset="-120"/>
              </a:rPr>
              <a:t>• Ongoing Delaware Chancery shareholder litigation (Oct. 2025)
</a:t>
            </a:r>
            <a:endParaRPr lang="en-US" sz="1150" dirty="0"/>
          </a:p>
        </p:txBody>
      </p:sp>
      <p:sp>
        <p:nvSpPr>
          <p:cNvPr id="12" name="Text 10"/>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13" name="Text 11"/>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342"/>
        </a:solidFill>
      </p:bgPr>
    </p:bg>
    <p:spTree>
      <p:nvGrpSpPr>
        <p:cNvPr id="1" name=""/>
        <p:cNvGrpSpPr/>
        <p:nvPr/>
      </p:nvGrpSpPr>
      <p:grpSpPr>
        <a:xfrm>
          <a:off x="0" y="0"/>
          <a:ext cx="0" cy="0"/>
          <a:chOff x="0" y="0"/>
          <a:chExt cx="0" cy="0"/>
        </a:xfrm>
      </p:grpSpPr>
      <p:sp>
        <p:nvSpPr>
          <p:cNvPr id="2" name="Text 0"/>
          <p:cNvSpPr/>
          <p:nvPr/>
        </p:nvSpPr>
        <p:spPr>
          <a:xfrm>
            <a:off x="640080" y="640080"/>
            <a:ext cx="10058400" cy="365760"/>
          </a:xfrm>
          <a:prstGeom prst="rect">
            <a:avLst/>
          </a:prstGeom>
          <a:noFill/>
          <a:ln/>
        </p:spPr>
        <p:txBody>
          <a:bodyPr wrap="square" rtlCol="0" anchor="ctr"/>
          <a:lstStyle/>
          <a:p>
            <a:pPr indent="0" marL="0">
              <a:buNone/>
            </a:pPr>
            <a:r>
              <a:rPr lang="en-US" sz="1300" b="1" spc="150" kern="0" dirty="0">
                <a:solidFill>
                  <a:srgbClr val="2F80ED"/>
                </a:solidFill>
                <a:latin typeface="Arial" pitchFamily="34" charset="0"/>
                <a:ea typeface="Arial" pitchFamily="34" charset="-122"/>
                <a:cs typeface="Arial" pitchFamily="34" charset="-120"/>
              </a:rPr>
              <a:t>RECOMMENDATION &amp; CONCLUSION</a:t>
            </a:r>
            <a:endParaRPr lang="en-US" sz="1300" dirty="0"/>
          </a:p>
        </p:txBody>
      </p:sp>
      <p:sp>
        <p:nvSpPr>
          <p:cNvPr id="3" name="Text 1"/>
          <p:cNvSpPr/>
          <p:nvPr/>
        </p:nvSpPr>
        <p:spPr>
          <a:xfrm>
            <a:off x="640080" y="1143000"/>
            <a:ext cx="10789920" cy="1005840"/>
          </a:xfrm>
          <a:prstGeom prst="rect">
            <a:avLst/>
          </a:prstGeom>
          <a:noFill/>
          <a:ln/>
        </p:spPr>
        <p:txBody>
          <a:bodyPr wrap="square" rtlCol="0" anchor="ctr"/>
          <a:lstStyle/>
          <a:p>
            <a:pPr indent="0" marL="0">
              <a:lnSpc>
                <a:spcPct val="115000"/>
              </a:lnSpc>
              <a:buNone/>
            </a:pPr>
            <a:r>
              <a:rPr lang="en-US" sz="2400" b="1" dirty="0">
                <a:solidFill>
                  <a:srgbClr val="FFFFFF"/>
                </a:solidFill>
                <a:latin typeface="Arial" pitchFamily="34" charset="0"/>
                <a:ea typeface="Arial" pitchFamily="34" charset="-122"/>
                <a:cs typeface="Arial" pitchFamily="34" charset="-120"/>
              </a:rPr>
              <a:t>Provisionally value-creating on strategic grounds — financial value creation still being confirmed.</a:t>
            </a:r>
            <a:endParaRPr lang="en-US" sz="2400" dirty="0"/>
          </a:p>
        </p:txBody>
      </p:sp>
      <p:sp>
        <p:nvSpPr>
          <p:cNvPr id="4" name="Shape 2"/>
          <p:cNvSpPr/>
          <p:nvPr/>
        </p:nvSpPr>
        <p:spPr>
          <a:xfrm>
            <a:off x="640080" y="2450592"/>
            <a:ext cx="256032" cy="256032"/>
          </a:xfrm>
          <a:prstGeom prst="roundRect">
            <a:avLst>
              <a:gd name="adj" fmla="val 50000"/>
            </a:avLst>
          </a:prstGeom>
          <a:solidFill>
            <a:srgbClr val="2F80ED"/>
          </a:solidFill>
          <a:ln/>
        </p:spPr>
      </p:sp>
      <p:sp>
        <p:nvSpPr>
          <p:cNvPr id="5" name="Text 3"/>
          <p:cNvSpPr/>
          <p:nvPr/>
        </p:nvSpPr>
        <p:spPr>
          <a:xfrm>
            <a:off x="1097280" y="2423160"/>
            <a:ext cx="10424160" cy="713232"/>
          </a:xfrm>
          <a:prstGeom prst="rect">
            <a:avLst/>
          </a:prstGeom>
          <a:noFill/>
          <a:ln/>
        </p:spPr>
        <p:txBody>
          <a:bodyPr wrap="square" rtlCol="0" anchor="t"/>
          <a:lstStyle/>
          <a:p>
            <a:pPr indent="0" marL="0">
              <a:lnSpc>
                <a:spcPct val="118000"/>
              </a:lnSpc>
              <a:buNone/>
            </a:pPr>
            <a:r>
              <a:rPr lang="en-US" sz="1250" dirty="0">
                <a:solidFill>
                  <a:srgbClr val="FFFFFF"/>
                </a:solidFill>
                <a:latin typeface="Arial" pitchFamily="34" charset="0"/>
                <a:ea typeface="Arial" pitchFamily="34" charset="-122"/>
                <a:cs typeface="Arial" pitchFamily="34" charset="-120"/>
              </a:rPr>
              <a:t>Well-executed deal process: disciplined pricing below precedent-transaction averages, conservative all-cash financing, and a deal-protection structure that correctly priced regulatory risk.</a:t>
            </a:r>
            <a:endParaRPr lang="en-US" sz="1250" dirty="0"/>
          </a:p>
        </p:txBody>
      </p:sp>
      <p:sp>
        <p:nvSpPr>
          <p:cNvPr id="6" name="Shape 4"/>
          <p:cNvSpPr/>
          <p:nvPr/>
        </p:nvSpPr>
        <p:spPr>
          <a:xfrm>
            <a:off x="640080" y="3200400"/>
            <a:ext cx="256032" cy="256032"/>
          </a:xfrm>
          <a:prstGeom prst="roundRect">
            <a:avLst>
              <a:gd name="adj" fmla="val 50000"/>
            </a:avLst>
          </a:prstGeom>
          <a:solidFill>
            <a:srgbClr val="2F80ED"/>
          </a:solidFill>
          <a:ln/>
        </p:spPr>
      </p:sp>
      <p:sp>
        <p:nvSpPr>
          <p:cNvPr id="7" name="Text 5"/>
          <p:cNvSpPr/>
          <p:nvPr/>
        </p:nvSpPr>
        <p:spPr>
          <a:xfrm>
            <a:off x="1097280" y="3172968"/>
            <a:ext cx="10424160" cy="713232"/>
          </a:xfrm>
          <a:prstGeom prst="rect">
            <a:avLst/>
          </a:prstGeom>
          <a:noFill/>
          <a:ln/>
        </p:spPr>
        <p:txBody>
          <a:bodyPr wrap="square" rtlCol="0" anchor="t"/>
          <a:lstStyle/>
          <a:p>
            <a:pPr indent="0" marL="0">
              <a:lnSpc>
                <a:spcPct val="118000"/>
              </a:lnSpc>
              <a:buNone/>
            </a:pPr>
            <a:r>
              <a:rPr lang="en-US" sz="1250" dirty="0">
                <a:solidFill>
                  <a:srgbClr val="FFFFFF"/>
                </a:solidFill>
                <a:latin typeface="Arial" pitchFamily="34" charset="0"/>
                <a:ea typeface="Arial" pitchFamily="34" charset="-122"/>
                <a:cs typeface="Arial" pitchFamily="34" charset="-120"/>
              </a:rPr>
              <a:t>Clear commercial validation of the multi-platform strategy, evidenced by Call of Duty: Black Ops 6's record performance across Xbox, PlayStation, and Steam.</a:t>
            </a:r>
            <a:endParaRPr lang="en-US" sz="1250" dirty="0"/>
          </a:p>
        </p:txBody>
      </p:sp>
      <p:sp>
        <p:nvSpPr>
          <p:cNvPr id="8" name="Shape 6"/>
          <p:cNvSpPr/>
          <p:nvPr/>
        </p:nvSpPr>
        <p:spPr>
          <a:xfrm>
            <a:off x="640080" y="3950208"/>
            <a:ext cx="256032" cy="256032"/>
          </a:xfrm>
          <a:prstGeom prst="roundRect">
            <a:avLst>
              <a:gd name="adj" fmla="val 50000"/>
            </a:avLst>
          </a:prstGeom>
          <a:solidFill>
            <a:srgbClr val="2F80ED"/>
          </a:solidFill>
          <a:ln/>
        </p:spPr>
      </p:sp>
      <p:sp>
        <p:nvSpPr>
          <p:cNvPr id="9" name="Text 7"/>
          <p:cNvSpPr/>
          <p:nvPr/>
        </p:nvSpPr>
        <p:spPr>
          <a:xfrm>
            <a:off x="1097280" y="3922776"/>
            <a:ext cx="10424160" cy="713232"/>
          </a:xfrm>
          <a:prstGeom prst="rect">
            <a:avLst/>
          </a:prstGeom>
          <a:noFill/>
          <a:ln/>
        </p:spPr>
        <p:txBody>
          <a:bodyPr wrap="square" rtlCol="0" anchor="t"/>
          <a:lstStyle/>
          <a:p>
            <a:pPr indent="0" marL="0">
              <a:lnSpc>
                <a:spcPct val="118000"/>
              </a:lnSpc>
              <a:buNone/>
            </a:pPr>
            <a:r>
              <a:rPr lang="en-US" sz="1250" dirty="0">
                <a:solidFill>
                  <a:srgbClr val="FFFFFF"/>
                </a:solidFill>
                <a:latin typeface="Arial" pitchFamily="34" charset="0"/>
                <a:ea typeface="Arial" pitchFamily="34" charset="-122"/>
                <a:cs typeface="Arial" pitchFamily="34" charset="-120"/>
              </a:rPr>
              <a:t>Near-neutral GAAP EPS impact through FY2024 is typical of large acquisitions in their first 24 months — not evidence of value destruction, but not yet confirmed accretion either.</a:t>
            </a:r>
            <a:endParaRPr lang="en-US" sz="1250" dirty="0"/>
          </a:p>
        </p:txBody>
      </p:sp>
      <p:sp>
        <p:nvSpPr>
          <p:cNvPr id="10" name="Shape 8"/>
          <p:cNvSpPr/>
          <p:nvPr/>
        </p:nvSpPr>
        <p:spPr>
          <a:xfrm>
            <a:off x="640080" y="4700016"/>
            <a:ext cx="256032" cy="256032"/>
          </a:xfrm>
          <a:prstGeom prst="roundRect">
            <a:avLst>
              <a:gd name="adj" fmla="val 50000"/>
            </a:avLst>
          </a:prstGeom>
          <a:solidFill>
            <a:srgbClr val="2F80ED"/>
          </a:solidFill>
          <a:ln/>
        </p:spPr>
      </p:sp>
      <p:sp>
        <p:nvSpPr>
          <p:cNvPr id="11" name="Text 9"/>
          <p:cNvSpPr/>
          <p:nvPr/>
        </p:nvSpPr>
        <p:spPr>
          <a:xfrm>
            <a:off x="1097280" y="4672584"/>
            <a:ext cx="10424160" cy="713232"/>
          </a:xfrm>
          <a:prstGeom prst="rect">
            <a:avLst/>
          </a:prstGeom>
          <a:noFill/>
          <a:ln/>
        </p:spPr>
        <p:txBody>
          <a:bodyPr wrap="square" rtlCol="0" anchor="t"/>
          <a:lstStyle/>
          <a:p>
            <a:pPr indent="0" marL="0">
              <a:lnSpc>
                <a:spcPct val="118000"/>
              </a:lnSpc>
              <a:buNone/>
            </a:pPr>
            <a:r>
              <a:rPr lang="en-US" sz="1250" dirty="0">
                <a:solidFill>
                  <a:srgbClr val="FFFFFF"/>
                </a:solidFill>
                <a:latin typeface="Arial" pitchFamily="34" charset="0"/>
                <a:ea typeface="Arial" pitchFamily="34" charset="-122"/>
                <a:cs typeface="Arial" pitchFamily="34" charset="-120"/>
              </a:rPr>
              <a:t>Organizational and reputational costs (layoffs, studio closures, Game Pass pricing backlash, ongoing litigation) are real and only partially visible in the financial statements.</a:t>
            </a:r>
            <a:endParaRPr lang="en-US" sz="1250" dirty="0"/>
          </a:p>
        </p:txBody>
      </p:sp>
      <p:sp>
        <p:nvSpPr>
          <p:cNvPr id="12" name="Shape 10"/>
          <p:cNvSpPr/>
          <p:nvPr/>
        </p:nvSpPr>
        <p:spPr>
          <a:xfrm>
            <a:off x="640080" y="5449824"/>
            <a:ext cx="256032" cy="256032"/>
          </a:xfrm>
          <a:prstGeom prst="roundRect">
            <a:avLst>
              <a:gd name="adj" fmla="val 50000"/>
            </a:avLst>
          </a:prstGeom>
          <a:solidFill>
            <a:srgbClr val="2F80ED"/>
          </a:solidFill>
          <a:ln/>
        </p:spPr>
      </p:sp>
      <p:sp>
        <p:nvSpPr>
          <p:cNvPr id="13" name="Text 11"/>
          <p:cNvSpPr/>
          <p:nvPr/>
        </p:nvSpPr>
        <p:spPr>
          <a:xfrm>
            <a:off x="1097280" y="5422392"/>
            <a:ext cx="10424160" cy="713232"/>
          </a:xfrm>
          <a:prstGeom prst="rect">
            <a:avLst/>
          </a:prstGeom>
          <a:noFill/>
          <a:ln/>
        </p:spPr>
        <p:txBody>
          <a:bodyPr wrap="square" rtlCol="0" anchor="t"/>
          <a:lstStyle/>
          <a:p>
            <a:pPr indent="0" marL="0">
              <a:lnSpc>
                <a:spcPct val="118000"/>
              </a:lnSpc>
              <a:buNone/>
            </a:pPr>
            <a:r>
              <a:rPr lang="en-US" sz="1250" dirty="0">
                <a:solidFill>
                  <a:srgbClr val="FFFFFF"/>
                </a:solidFill>
                <a:latin typeface="Arial" pitchFamily="34" charset="0"/>
                <a:ea typeface="Arial" pitchFamily="34" charset="-122"/>
                <a:cs typeface="Arial" pitchFamily="34" charset="-120"/>
              </a:rPr>
              <a:t>Full economic assessment will likely require a five-to-seven-year view, consistent with large strategic acquisitions in content-driven industries.</a:t>
            </a:r>
            <a:endParaRPr lang="en-US" sz="1250" dirty="0"/>
          </a:p>
        </p:txBody>
      </p:sp>
      <p:sp>
        <p:nvSpPr>
          <p:cNvPr id="14" name="Text 12"/>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15" name="Text 13"/>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rtlCol="0" anchor="ctr"/>
          <a:lstStyle/>
          <a:p>
            <a:pPr indent="0" marL="0">
              <a:buNone/>
            </a:pPr>
            <a:r>
              <a:rPr lang="en-US" sz="1100" b="1" spc="100" kern="0" dirty="0">
                <a:solidFill>
                  <a:srgbClr val="2F80ED"/>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457200" y="576072"/>
            <a:ext cx="11247120" cy="640080"/>
          </a:xfrm>
          <a:prstGeom prst="rect">
            <a:avLst/>
          </a:prstGeom>
          <a:noFill/>
          <a:ln/>
        </p:spPr>
        <p:txBody>
          <a:bodyPr wrap="square" rtlCol="0" anchor="ctr"/>
          <a:lstStyle/>
          <a:p>
            <a:pPr indent="0" marL="0">
              <a:buNone/>
            </a:pPr>
            <a:r>
              <a:rPr lang="en-US" sz="2700" b="1" dirty="0">
                <a:solidFill>
                  <a:srgbClr val="0A2342"/>
                </a:solidFill>
                <a:latin typeface="Arial" pitchFamily="34" charset="0"/>
                <a:ea typeface="Arial" pitchFamily="34" charset="-122"/>
                <a:cs typeface="Arial" pitchFamily="34" charset="-120"/>
              </a:rPr>
              <a:t>Key Sources &amp; Disclaimer</a:t>
            </a:r>
            <a:endParaRPr lang="en-US" sz="2700" dirty="0"/>
          </a:p>
        </p:txBody>
      </p:sp>
      <p:sp>
        <p:nvSpPr>
          <p:cNvPr id="4" name="Text 2"/>
          <p:cNvSpPr/>
          <p:nvPr/>
        </p:nvSpPr>
        <p:spPr>
          <a:xfrm>
            <a:off x="548640" y="1371600"/>
            <a:ext cx="11064240" cy="4754880"/>
          </a:xfrm>
          <a:prstGeom prst="rect">
            <a:avLst/>
          </a:prstGeom>
          <a:noFill/>
          <a:ln/>
        </p:spPr>
        <p:txBody>
          <a:bodyPr wrap="square" rtlCol="0" anchor="t"/>
          <a:lstStyle/>
          <a:p>
            <a:pPr indent="0" marL="0">
              <a:lnSpc>
                <a:spcPct val="130000"/>
              </a:lnSpc>
              <a:buNone/>
            </a:pPr>
            <a:r>
              <a:rPr lang="en-US" sz="1400" b="1" dirty="0">
                <a:solidFill>
                  <a:srgbClr val="0A2342"/>
                </a:solidFill>
                <a:latin typeface="Arial" pitchFamily="34" charset="0"/>
                <a:ea typeface="Arial" pitchFamily="34" charset="-122"/>
                <a:cs typeface="Arial" pitchFamily="34" charset="-120"/>
              </a:rPr>
              <a:t>Selected Sources
</a:t>
            </a:r>
            <a:pPr indent="0" marL="0">
              <a:lnSpc>
                <a:spcPct val="130000"/>
              </a:lnSpc>
              <a:buNone/>
            </a:pPr>
            <a:r>
              <a:rPr lang="en-US" sz="1100" dirty="0">
                <a:solidFill>
                  <a:srgbClr val="000000"/>
                </a:solidFill>
                <a:latin typeface="Arial" pitchFamily="34" charset="0"/>
                <a:ea typeface="Arial" pitchFamily="34" charset="-122"/>
                <a:cs typeface="Arial" pitchFamily="34" charset="-120"/>
              </a:rPr>
              <a:t>• Microsoft Corporation Form 10-K / 10-Q filings, FY2021–FY2025
</a:t>
            </a:r>
            <a:pPr indent="0" marL="0">
              <a:lnSpc>
                <a:spcPct val="130000"/>
              </a:lnSpc>
              <a:buNone/>
            </a:pPr>
            <a:r>
              <a:rPr lang="en-US" sz="1100" dirty="0">
                <a:solidFill>
                  <a:srgbClr val="000000"/>
                </a:solidFill>
                <a:latin typeface="Arial" pitchFamily="34" charset="0"/>
                <a:ea typeface="Arial" pitchFamily="34" charset="-122"/>
                <a:cs typeface="Arial" pitchFamily="34" charset="-120"/>
              </a:rPr>
              <a:t>• Activision Blizzard, Inc. Form 10-K filings and merger proxy statement (PREM14A)
</a:t>
            </a:r>
            <a:pPr indent="0" marL="0">
              <a:lnSpc>
                <a:spcPct val="130000"/>
              </a:lnSpc>
              <a:buNone/>
            </a:pPr>
            <a:r>
              <a:rPr lang="en-US" sz="1100" dirty="0">
                <a:solidFill>
                  <a:srgbClr val="000000"/>
                </a:solidFill>
                <a:latin typeface="Arial" pitchFamily="34" charset="0"/>
                <a:ea typeface="Arial" pitchFamily="34" charset="-122"/>
                <a:cs typeface="Arial" pitchFamily="34" charset="-120"/>
              </a:rPr>
              <a:t>• U.S. Court of Appeals for the Ninth Circuit, FTC v. Microsoft Corp. (May 2025)
</a:t>
            </a:r>
            <a:pPr indent="0" marL="0">
              <a:lnSpc>
                <a:spcPct val="130000"/>
              </a:lnSpc>
              <a:buNone/>
            </a:pPr>
            <a:r>
              <a:rPr lang="en-US" sz="1100" dirty="0">
                <a:solidFill>
                  <a:srgbClr val="000000"/>
                </a:solidFill>
                <a:latin typeface="Arial" pitchFamily="34" charset="0"/>
                <a:ea typeface="Arial" pitchFamily="34" charset="-122"/>
                <a:cs typeface="Arial" pitchFamily="34" charset="-120"/>
              </a:rPr>
              <a:t>• UK Competition and Markets Authority and European Commission merger decisions
</a:t>
            </a:r>
            <a:pPr indent="0" marL="0">
              <a:lnSpc>
                <a:spcPct val="130000"/>
              </a:lnSpc>
              <a:buNone/>
            </a:pPr>
            <a:r>
              <a:rPr lang="en-US" sz="1100" dirty="0">
                <a:solidFill>
                  <a:srgbClr val="000000"/>
                </a:solidFill>
                <a:latin typeface="Arial" pitchFamily="34" charset="0"/>
                <a:ea typeface="Arial" pitchFamily="34" charset="-122"/>
                <a:cs typeface="Arial" pitchFamily="34" charset="-120"/>
              </a:rPr>
              <a:t>• Newzoo Global Games Market Reports; company press releases and earnings materials
</a:t>
            </a:r>
            <a:pPr indent="0" marL="0">
              <a:lnSpc>
                <a:spcPct val="130000"/>
              </a:lnSpc>
              <a:buNone/>
            </a:pPr>
            <a:r>
              <a:rPr lang="en-US" sz="1400" b="1" dirty="0">
                <a:solidFill>
                  <a:srgbClr val="0A2342"/>
                </a:solidFill>
                <a:latin typeface="Arial" pitchFamily="34" charset="0"/>
                <a:ea typeface="Arial" pitchFamily="34" charset="-122"/>
                <a:cs typeface="Arial" pitchFamily="34" charset="-120"/>
              </a:rPr>
              <a:t>Disclaimer
</a:t>
            </a:r>
            <a:pPr indent="0" marL="0">
              <a:lnSpc>
                <a:spcPct val="130000"/>
              </a:lnSpc>
              <a:buNone/>
            </a:pPr>
            <a:r>
              <a:rPr lang="en-US" sz="1050" i="1" dirty="0">
                <a:solidFill>
                  <a:srgbClr val="6B7684"/>
                </a:solidFill>
                <a:latin typeface="Arial" pitchFamily="34" charset="0"/>
                <a:ea typeface="Arial" pitchFamily="34" charset="-122"/>
                <a:cs typeface="Arial" pitchFamily="34" charset="-120"/>
              </a:rPr>
              <a:t>This presentation is an independent, illustrative deal analysis prepared for educational and portfolio purposes. It is not affiliated with, endorsed by, or produced on behalf of Microsoft Corporation, Activision Blizzard, Inc., or any financial institution referenced herein. It does not constitute investment advice or an offer of any securities.</a:t>
            </a:r>
            <a:endParaRPr lang="en-US" sz="1400" dirty="0"/>
          </a:p>
        </p:txBody>
      </p:sp>
      <p:sp>
        <p:nvSpPr>
          <p:cNvPr id="5" name="Text 3"/>
          <p:cNvSpPr/>
          <p:nvPr/>
        </p:nvSpPr>
        <p:spPr>
          <a:xfrm>
            <a:off x="457200" y="6473952"/>
            <a:ext cx="6400800" cy="274320"/>
          </a:xfrm>
          <a:prstGeom prst="rect">
            <a:avLst/>
          </a:prstGeom>
          <a:noFill/>
          <a:ln/>
        </p:spPr>
        <p:txBody>
          <a:bodyPr wrap="square" rtlCol="0" anchor="ctr"/>
          <a:lstStyle/>
          <a:p>
            <a:pPr algn="l" indent="0" marL="0">
              <a:buNone/>
            </a:pPr>
            <a:r>
              <a:rPr lang="en-US" sz="800" dirty="0">
                <a:solidFill>
                  <a:srgbClr val="6B7684"/>
                </a:solidFill>
                <a:latin typeface="Arial" pitchFamily="34" charset="0"/>
                <a:ea typeface="Arial" pitchFamily="34" charset="-122"/>
                <a:cs typeface="Arial" pitchFamily="34" charset="-120"/>
              </a:rPr>
              <a:t>Project Anchorage  |  Confidential — Illustrative</a:t>
            </a:r>
            <a:endParaRPr lang="en-US" sz="800" dirty="0"/>
          </a:p>
        </p:txBody>
      </p:sp>
      <p:sp>
        <p:nvSpPr>
          <p:cNvPr id="6" name="Text 4"/>
          <p:cNvSpPr/>
          <p:nvPr/>
        </p:nvSpPr>
        <p:spPr>
          <a:xfrm>
            <a:off x="11274552" y="6473952"/>
            <a:ext cx="548640" cy="274320"/>
          </a:xfrm>
          <a:prstGeom prst="rect">
            <a:avLst/>
          </a:prstGeom>
          <a:noFill/>
          <a:ln/>
        </p:spPr>
        <p:txBody>
          <a:bodyPr wrap="square" rtlCol="0" anchor="ctr"/>
          <a:lstStyle/>
          <a:p>
            <a:pPr algn="r" indent="0" marL="0">
              <a:buNone/>
            </a:pPr>
            <a:r>
              <a:rPr lang="en-US" sz="800" dirty="0">
                <a:solidFill>
                  <a:srgbClr val="6B7684"/>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2026-08-01T18:07:58Z</dcterms:created>
  <dcterms:modified xsi:type="dcterms:W3CDTF">2026-08-01T18:07:58Z</dcterms:modified>
</cp:coreProperties>
</file>